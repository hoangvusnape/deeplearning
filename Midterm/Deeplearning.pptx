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Xin chào thầy cô và các bạn. Hôm nay em trình bày bài giữa kỳ về xây dựng mạng VQA cho lĩnh vực y tế, tập trung vào radiology. Em là Hoàng Đình Quý Vũ, dưới sự hướng dẫn của PGS.TS Lê Anh Cường.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Nội dung trình bày gồm 5 phần chính: đặt vấn đề, mô hình Gemma 4, dữ liệu và phương pháp đánh giá, kết quả thực nghiệm, và kết luận.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Medical VQA yêu cầu mô hình hiểu đồng thời ảnh y khoa và câu hỏi ngôn ngữ tự nhiên để đưa ra câu trả lời lâm sàng. Nhóm tập trung vào radiology VQA vì phù hợp dataset VQA-RAD. Câu hỏi chia thành yes/no (closed) và open-ended.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ba bước: ảnh qua vision encoder, câu hỏi qua text tokenizer, Gemma 4 xử lý đồng thời và sinh câu trả lời ngắn gọn.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4 được chọn vì multimodal native, compact 4B tham số, kiến trúc KV sharing + GQA hiệu quả, và đã instruction-tuned sẵn — phù hợp fine-tune trên domain y tế.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4 dùng KV sharing và GQA để giảm chi phí attention và KV cache. Local-global attention 5:1 giữ cả thông tin cục bộ lẫn toàn cục. Per-Layer Embeddings tăng capacity. E-series hướng edge deployment.
1. Số lượng khối (Layers)
E2B: Cấu trúc được lặp lại 35 lần (35x).
E4B: Cấu trúc được lặp lại 42 lần (42x), sâu hơn so với E2B.
2. Kích thước Embedding (Embedding Dimension)
E2B: Kích thước embedding là 1,536.
E4B: Kích thước embedding lớn hơn, đạt mức 2,560.
3. Mạng truyền thẳng (Feed Forward Network)
E2B: Kích thước đầu vào (Input dim) là 1,536 và kích thước trung gian (Intermediate dim) là 6,144.
E4B: Kích thước đầu vào (Input dim) là 2,560 và kích thước trung gian (Intermediate dim) lớn hơn nhiều, lên tới 10,240.
4. Cơ chế Attention (Attention Mechanism &amp; GQA)
Tỷ lệ Local / Global: * E2B: Tỷ lệ cửa sổ trượt cục bộ (Local sliding) so với chú ý toàn cục (Global full attention) là 4:1.
E4B: Tỷ lệ này là 5:1.
Số lượng Key &amp; Value Heads:
E2B: Cả cơ chế Local và Global đều sử dụng 8 attention heads và 1 key &amp; value head.
E4B: Cả cơ chế Local và Global đều sử dụng 8 attention heads nhưng tăng lên 2 key &amp; value heads.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Fine-tuning trên Colab GPU với Unsloth (2x nhanh hơn). Mô hình Gemma-4-4B-it, phương pháp LoRA. Dữ liệu VQA-RAD train/test split kèm checkpointing.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rank 16, alpha 16, dropout 0, target tất cả attention và MLP layers của cả language và vision. Training: LR 2e-4, AdamW 8-bit, batch 1, gradient accumulation 4, cosine scheduler, 2 epochs, 898 steps. Dùng 4-bit quantization để tiết kiệm VRAM. Cùng cấu hình cho cả E2B và E4B.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VQA-RAD gồm 2,244 cặp hỏi-đáp sau lọc. Chia 80/20: 1,793 train, 451 test. 314 ảnh X-ray/CT/MRI từ MedPix. Tập test gồm 251 câu đóng (56%) và 200 câu mở (44%). Do dataset gốc không có nhãn loại câu hỏi nên nhóm tự phân loại trong quá trình chạy kiểm thử.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RadImageNet-VQA tải từ HuggingFace: raidium/RadImageNet-VQA, config benchmark, split test, 9,000 mẫu gốc. Nhóm chọn 500 mẫu cân bằng qua stratified sampling: 167 Open-ended, 167 Closed Yes/No, 166 Multiple Choice. Mục đích: đánh giá tổng quát hóa ngoài domain VQA-RAD.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là chỉ số nhị phân: khớp 100% mới tính điểm 1. F1 là token overlap, cho phép đúng một phần. Ví dụ: Gold='A', Pred='A) nodule' → EM=0 nhưng F1=0.667 vì chia sẻ token A. EM nghiêm khắc, F1 phản ánh ngữ nghĩa tốt hơn cho câu hỏi mở. Cả hai cùng dùng để đánh giá toàn diện.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F1-score là trung bình điều hòa của Precision và Recall. Precision đo tỉ lệ từ model đoán đúng. Recall đo tỉ lệ từ đáp án được phủ. Ví dụ A: thiếu từ → F1=0.80, EM=0. Ví dụ B: dài dòng → F1=0.33, EM=0. F1 phản ánh năng lực model sát thực hơn EM với câu hỏi mở.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Trên VQA-RAD 451 mẫu: base models đều 0% EM — chúng trả lời dài dòng kiểu AI không thể chẩn đoán. Fine-tuned models nhảy lên 48.34% EM. ft_4b đạt closed-ended cao nhất 70.92%; ft_2b nhỉnh hơn ở open-ended 23% so với 20%. Độ dài trung bình giảm từ 10-15 từ xuống còn 1.7-2 từ sau fine-tune — mô hình học cách trả lời cực ngắn gọn đúng định dạng kỳ vọng.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Trên RadImageNet-VQA 500 mẫu balanced có thêm dạng trắc nghiệm MC. Base models đánh câu trắc nghiệm khá tốt (~47-50%) nhưng Open và Closed đều 0%. Sau fine-tune, ft_4b đạt Overall EM tốt nhất 31.60%, Closed 72.46%. Đáng chú ý: MC của ft_2b về 0%, ft_4b giảm xuống 16.27% — hiện tượng catastrophic forgetting do train set không có mẫu MC.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Ví dụ minh họa từ tập test: ảnh X-quang ngực với máy tạo nhịp tim. Câu hỏi đóng về pacemaker — mô hình trả lời đúng 'Yes'. Câu hỏi mở về vị trí — trả lời 'left chest region'.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hạn chế chính: dataset nhỏ 314 ảnh, yêu cầu độ chính xác lâm sàng cao, rủi ro hallucination. Hướng tiếp: mở rộng với SLAKE/MedVQA-2019, thêm Grad-CAM explainability, khảo sát Flash Attention. Cảm ơn thầy cô và các bạn.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76068"/>
          </a:xfrm>
          <a:prstGeom prst="rect">
            <a:avLst/>
          </a:prstGeom>
          <a:gradFill rotWithShape="1">
            <a:gsLst>
              <a:gs pos="0">
                <a:srgbClr val="1565C0">
                  <a:alpha val="100000"/>
                </a:srgbClr>
              </a:gs>
              <a:gs pos="100000">
                <a:srgbClr val="1E88E5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5" name="Text 2"/>
          <p:cNvSpPr/>
          <p:nvPr/>
        </p:nvSpPr>
        <p:spPr>
          <a:xfrm>
            <a:off x="6483888" y="3020880"/>
            <a:ext cx="532006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22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GIỮA KỲ · HỌC MÁY ỨNG DỤNG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12849" y="3753115"/>
            <a:ext cx="7462302" cy="1714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mạng VQA cho lĩnh vực y tế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8801034" y="5734017"/>
            <a:ext cx="685767" cy="3803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5954912" y="6038619"/>
            <a:ext cx="6378178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spc="38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Visual Question Answering · Radiology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0" y="9099848"/>
            <a:ext cx="18288001" cy="118715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9099848"/>
            <a:ext cx="18288001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5594524" y="9357982"/>
            <a:ext cx="257408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viên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94524" y="9690200"/>
            <a:ext cx="257408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Hoàng Đình Quý Vũ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9004102" y="9460508"/>
            <a:ext cx="9525" cy="4762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Text 11"/>
          <p:cNvSpPr/>
          <p:nvPr/>
        </p:nvSpPr>
        <p:spPr>
          <a:xfrm>
            <a:off x="9835505" y="9357982"/>
            <a:ext cx="287149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835505" y="9690200"/>
            <a:ext cx="287149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PGS.TS Lê Anh Cường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504693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1047750" y="1287859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Shape 4"/>
          <p:cNvSpPr/>
          <p:nvPr/>
        </p:nvSpPr>
        <p:spPr>
          <a:xfrm>
            <a:off x="1047750" y="1697302"/>
            <a:ext cx="21167" cy="1114227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1335484" y="1716319"/>
            <a:ext cx="609501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2059285" y="1697302"/>
            <a:ext cx="346958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Đặt Vấn Đề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2059285" y="2080287"/>
            <a:ext cx="3248789" cy="769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Medical VQA Kiến Trúc Tổng Quan Hệ Thống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47750" y="3116296"/>
            <a:ext cx="21167" cy="111422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9"/>
          <p:cNvSpPr/>
          <p:nvPr/>
        </p:nvSpPr>
        <p:spPr>
          <a:xfrm>
            <a:off x="1335484" y="3135313"/>
            <a:ext cx="609501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2059285" y="3116296"/>
            <a:ext cx="5074676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059285" y="3499280"/>
            <a:ext cx="4751742" cy="769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Chọn Gemma 4 · Kiến Trúc Gemma 4 Quy Trình Fine-Tuning · Cấu Hình Huấn Luyện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750" y="4535289"/>
            <a:ext cx="21167" cy="1114227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6" name="Text 13"/>
          <p:cNvSpPr/>
          <p:nvPr/>
        </p:nvSpPr>
        <p:spPr>
          <a:xfrm>
            <a:off x="1335484" y="4554306"/>
            <a:ext cx="609501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2059285" y="4535289"/>
            <a:ext cx="3730791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&amp; Đánh Giá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2059285" y="4918274"/>
            <a:ext cx="3493377" cy="769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VQA-RAD · RadImageNet-VQA Phương Pháp Đánh Giá (EM &amp; F1)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0439466" y="1697302"/>
            <a:ext cx="21167" cy="1114227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0" name="Text 17"/>
          <p:cNvSpPr/>
          <p:nvPr/>
        </p:nvSpPr>
        <p:spPr>
          <a:xfrm>
            <a:off x="10727201" y="1716319"/>
            <a:ext cx="609501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11451002" y="1697302"/>
            <a:ext cx="387085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1451002" y="2080287"/>
            <a:ext cx="3624527" cy="769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Thực Nghiệm · Demo mẫu Công Thức F1-score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439466" y="3116296"/>
            <a:ext cx="21167" cy="1114227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Text 21"/>
          <p:cNvSpPr/>
          <p:nvPr/>
        </p:nvSpPr>
        <p:spPr>
          <a:xfrm>
            <a:off x="10727201" y="3135313"/>
            <a:ext cx="609501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11451002" y="3116296"/>
            <a:ext cx="311541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1451002" y="3499280"/>
            <a:ext cx="2917165" cy="7693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Hiện Tại Hướng Phát Triển Tiếp Theo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542892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ĐẶT VẤN ĐỀ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913309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Medical VQA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1696475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2143952"/>
            <a:ext cx="96182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ĐỊNH NGHĨA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47750" y="2552402"/>
            <a:ext cx="9006133" cy="962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</a:t>
            </a:r>
            <a:pPr algn="l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y khoa </a:t>
            </a:r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</a:t>
            </a:r>
            <a:pPr algn="l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</a:t>
            </a:r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sinh </a:t>
            </a:r>
            <a:pPr algn="l" indent="0" marL="0"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trả lời lâm sàng </a:t>
            </a:r>
            <a:pPr algn="l"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ngắn gọn, chính xác.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47750" y="3477121"/>
            <a:ext cx="96182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PHẠM VI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7750" y="3885572"/>
            <a:ext cx="9006133" cy="901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Radiology VQA </a:t>
            </a:r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ảnh X-quang ngực, phù hợp với dataset VQA-RAD.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047750" y="4749437"/>
            <a:ext cx="96182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DẠNG CÂU HỎI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47750" y="5176904"/>
            <a:ext cx="4276659" cy="1083634"/>
          </a:xfrm>
          <a:prstGeom prst="roundRect">
            <a:avLst>
              <a:gd name="adj" fmla="val 7032"/>
            </a:avLst>
          </a:prstGeom>
          <a:solidFill>
            <a:srgbClr val="EEF2F7"/>
          </a:solidFill>
          <a:ln/>
        </p:spPr>
      </p:sp>
      <p:sp>
        <p:nvSpPr>
          <p:cNvPr id="14" name="Shape 11"/>
          <p:cNvSpPr/>
          <p:nvPr/>
        </p:nvSpPr>
        <p:spPr>
          <a:xfrm>
            <a:off x="1047750" y="5176904"/>
            <a:ext cx="31750" cy="108363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1308034" y="5367404"/>
            <a:ext cx="416662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/ No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308034" y="5773705"/>
            <a:ext cx="416662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Closed-ended · 251 mẫu test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514909" y="5176904"/>
            <a:ext cx="4276659" cy="1083634"/>
          </a:xfrm>
          <a:prstGeom prst="roundRect">
            <a:avLst>
              <a:gd name="adj" fmla="val 7032"/>
            </a:avLst>
          </a:prstGeom>
          <a:solidFill>
            <a:srgbClr val="EEF2F7"/>
          </a:solidFill>
          <a:ln/>
        </p:spPr>
      </p:sp>
      <p:sp>
        <p:nvSpPr>
          <p:cNvPr id="18" name="Shape 15"/>
          <p:cNvSpPr/>
          <p:nvPr/>
        </p:nvSpPr>
        <p:spPr>
          <a:xfrm>
            <a:off x="5514909" y="5176904"/>
            <a:ext cx="31750" cy="1083634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9" name="Text 16"/>
          <p:cNvSpPr/>
          <p:nvPr/>
        </p:nvSpPr>
        <p:spPr>
          <a:xfrm>
            <a:off x="5775193" y="5367404"/>
            <a:ext cx="4166626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775193" y="5773705"/>
            <a:ext cx="416662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mở · 200 mẫu test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553569" y="2143952"/>
            <a:ext cx="6686683" cy="1577909"/>
          </a:xfrm>
          <a:prstGeom prst="roundRect">
            <a:avLst>
              <a:gd name="adj" fmla="val 6036"/>
            </a:avLst>
          </a:prstGeom>
          <a:solidFill>
            <a:srgbClr val="F7FAFC"/>
          </a:solidFill>
          <a:ln w="10583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830719" y="2364052"/>
            <a:ext cx="674561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VÀO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830719" y="2755636"/>
            <a:ext cx="674561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X-quang (radiology)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0830719" y="3152510"/>
            <a:ext cx="674561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ngôn ngữ tự nhiên</a:t>
            </a:r>
            <a:endParaRPr lang="en-US" sz="2100" dirty="0"/>
          </a:p>
        </p:txBody>
      </p:sp>
      <p:sp>
        <p:nvSpPr>
          <p:cNvPr id="25" name="Shape 22"/>
          <p:cNvSpPr/>
          <p:nvPr/>
        </p:nvSpPr>
        <p:spPr>
          <a:xfrm>
            <a:off x="13887319" y="3874162"/>
            <a:ext cx="19017" cy="152301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6" name="Shape 23"/>
          <p:cNvSpPr/>
          <p:nvPr/>
        </p:nvSpPr>
        <p:spPr>
          <a:xfrm>
            <a:off x="13812243" y="4045479"/>
            <a:ext cx="169333" cy="11641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7" name="Shape 24"/>
          <p:cNvSpPr/>
          <p:nvPr/>
        </p:nvSpPr>
        <p:spPr>
          <a:xfrm>
            <a:off x="10553569" y="4314197"/>
            <a:ext cx="6686683" cy="1470918"/>
          </a:xfrm>
          <a:prstGeom prst="roundRect">
            <a:avLst>
              <a:gd name="adj" fmla="val 6476"/>
            </a:avLst>
          </a:prstGeom>
          <a:solidFill>
            <a:srgbClr val="1565C0"/>
          </a:solidFill>
          <a:ln/>
        </p:spPr>
      </p:sp>
      <p:sp>
        <p:nvSpPr>
          <p:cNvPr id="28" name="Text 25"/>
          <p:cNvSpPr/>
          <p:nvPr/>
        </p:nvSpPr>
        <p:spPr>
          <a:xfrm>
            <a:off x="10512459" y="4523714"/>
            <a:ext cx="676890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5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0512459" y="4915297"/>
            <a:ext cx="6768902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 Model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0512459" y="5279264"/>
            <a:ext cx="676890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· Fine-tuned on VQA-RAD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13887319" y="5937415"/>
            <a:ext cx="19017" cy="152301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2" name="Shape 29"/>
          <p:cNvSpPr/>
          <p:nvPr/>
        </p:nvSpPr>
        <p:spPr>
          <a:xfrm>
            <a:off x="13812243" y="6108734"/>
            <a:ext cx="169333" cy="116416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3" name="Shape 30"/>
          <p:cNvSpPr/>
          <p:nvPr/>
        </p:nvSpPr>
        <p:spPr>
          <a:xfrm>
            <a:off x="10553569" y="6377451"/>
            <a:ext cx="6686683" cy="1181034"/>
          </a:xfrm>
          <a:prstGeom prst="roundRect">
            <a:avLst>
              <a:gd name="adj" fmla="val 8065"/>
            </a:avLst>
          </a:prstGeom>
          <a:solidFill>
            <a:srgbClr val="F7FAFC"/>
          </a:solidFill>
          <a:ln w="10583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830719" y="6597551"/>
            <a:ext cx="674561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830719" y="6989134"/>
            <a:ext cx="674561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trả lời lâm sàng ngắn gọn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542892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ĐẶT VẤN ĐỀ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913309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Tổng Quan Hệ Thống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1696475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Shape 5"/>
          <p:cNvSpPr/>
          <p:nvPr/>
        </p:nvSpPr>
        <p:spPr>
          <a:xfrm>
            <a:off x="3524250" y="4130807"/>
            <a:ext cx="2857500" cy="1365085"/>
          </a:xfrm>
          <a:prstGeom prst="roundRect">
            <a:avLst>
              <a:gd name="adj" fmla="val 6978"/>
            </a:avLst>
          </a:prstGeom>
          <a:solidFill>
            <a:srgbClr val="FFFFFF"/>
          </a:solidFill>
          <a:ln w="10583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02567" y="4350908"/>
            <a:ext cx="27008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X-QUANG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725334" y="4742491"/>
            <a:ext cx="2455334" cy="533301"/>
          </a:xfrm>
          <a:prstGeom prst="roundRect">
            <a:avLst>
              <a:gd name="adj" fmla="val 10716"/>
            </a:avLst>
          </a:prstGeom>
          <a:solidFill>
            <a:srgbClr val="EEF2F7"/>
          </a:solidFill>
          <a:ln/>
        </p:spPr>
      </p:sp>
      <p:sp>
        <p:nvSpPr>
          <p:cNvPr id="11" name="Shape 8"/>
          <p:cNvSpPr/>
          <p:nvPr/>
        </p:nvSpPr>
        <p:spPr>
          <a:xfrm>
            <a:off x="4791108" y="4799542"/>
            <a:ext cx="323784" cy="419034"/>
          </a:xfrm>
          <a:prstGeom prst="roundRect">
            <a:avLst>
              <a:gd name="adj" fmla="val 8825"/>
            </a:avLst>
          </a:prstGeom>
          <a:solidFill>
            <a:srgbClr val="CBD5E1"/>
          </a:solidFill>
          <a:ln/>
        </p:spPr>
      </p:sp>
      <p:sp>
        <p:nvSpPr>
          <p:cNvPr id="12" name="Shape 9"/>
          <p:cNvSpPr/>
          <p:nvPr/>
        </p:nvSpPr>
        <p:spPr>
          <a:xfrm>
            <a:off x="3524250" y="5667210"/>
            <a:ext cx="2857500" cy="1081484"/>
          </a:xfrm>
          <a:prstGeom prst="roundRect">
            <a:avLst>
              <a:gd name="adj" fmla="val 8807"/>
            </a:avLst>
          </a:prstGeom>
          <a:solidFill>
            <a:srgbClr val="FFFFFF"/>
          </a:solidFill>
          <a:ln w="10583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02567" y="5868293"/>
            <a:ext cx="270086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02567" y="6240694"/>
            <a:ext cx="2700867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there a fracture?"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3381375" y="6920012"/>
            <a:ext cx="31432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1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VÀO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6532067" y="5648855"/>
            <a:ext cx="609534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7" name="Shape 14"/>
          <p:cNvSpPr/>
          <p:nvPr/>
        </p:nvSpPr>
        <p:spPr>
          <a:xfrm>
            <a:off x="7141601" y="5567826"/>
            <a:ext cx="137583" cy="190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8" name="Shape 15"/>
          <p:cNvSpPr/>
          <p:nvPr/>
        </p:nvSpPr>
        <p:spPr>
          <a:xfrm>
            <a:off x="7429501" y="4060362"/>
            <a:ext cx="3429000" cy="2796811"/>
          </a:xfrm>
          <a:prstGeom prst="roundRect">
            <a:avLst>
              <a:gd name="adj" fmla="val 4087"/>
            </a:avLst>
          </a:prstGeom>
          <a:solidFill>
            <a:srgbClr val="0B1929"/>
          </a:solidFill>
          <a:ln/>
        </p:spPr>
      </p:sp>
      <p:sp>
        <p:nvSpPr>
          <p:cNvPr id="19" name="Text 16"/>
          <p:cNvSpPr/>
          <p:nvPr/>
        </p:nvSpPr>
        <p:spPr>
          <a:xfrm>
            <a:off x="7633043" y="4384146"/>
            <a:ext cx="3021915" cy="630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150" kern="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 MODEL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530356" y="5091080"/>
            <a:ext cx="3227288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</a:t>
            </a:r>
            <a:endParaRPr lang="en-US" sz="3300" dirty="0"/>
          </a:p>
        </p:txBody>
      </p:sp>
      <p:sp>
        <p:nvSpPr>
          <p:cNvPr id="21" name="Text 18"/>
          <p:cNvSpPr/>
          <p:nvPr/>
        </p:nvSpPr>
        <p:spPr>
          <a:xfrm>
            <a:off x="7530356" y="5614955"/>
            <a:ext cx="3227288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4B-it · LoRA Fine-tuned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7778089" y="6082605"/>
            <a:ext cx="1404276" cy="450784"/>
          </a:xfrm>
          <a:prstGeom prst="roundRect">
            <a:avLst>
              <a:gd name="adj" fmla="val 42260"/>
            </a:avLst>
          </a:prstGeom>
          <a:solidFill>
            <a:srgbClr val="1E88E5">
              <a:alpha val="25000"/>
            </a:srgbClr>
          </a:solidFill>
          <a:ln w="10583">
            <a:solidFill>
              <a:srgbClr val="1E88E5">
                <a:alpha val="45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83923" y="6159864"/>
            <a:ext cx="1192609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Enc.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277615" y="6082605"/>
            <a:ext cx="1232132" cy="450784"/>
          </a:xfrm>
          <a:prstGeom prst="roundRect">
            <a:avLst>
              <a:gd name="adj" fmla="val 42260"/>
            </a:avLst>
          </a:prstGeom>
          <a:solidFill>
            <a:srgbClr val="1E88E5">
              <a:alpha val="25000"/>
            </a:srgbClr>
          </a:solidFill>
          <a:ln w="10583">
            <a:solidFill>
              <a:srgbClr val="1E88E5">
                <a:alpha val="45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83448" y="6159864"/>
            <a:ext cx="1020465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Dec.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258051" y="6990458"/>
            <a:ext cx="377190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1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1008816" y="5648855"/>
            <a:ext cx="609534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8" name="Shape 25"/>
          <p:cNvSpPr/>
          <p:nvPr/>
        </p:nvSpPr>
        <p:spPr>
          <a:xfrm>
            <a:off x="11618351" y="5567826"/>
            <a:ext cx="137583" cy="190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9" name="Shape 26"/>
          <p:cNvSpPr/>
          <p:nvPr/>
        </p:nvSpPr>
        <p:spPr>
          <a:xfrm>
            <a:off x="11906250" y="4133949"/>
            <a:ext cx="2857500" cy="2649802"/>
          </a:xfrm>
          <a:prstGeom prst="roundRect">
            <a:avLst>
              <a:gd name="adj" fmla="val 3595"/>
            </a:avLst>
          </a:prstGeom>
          <a:solidFill>
            <a:srgbClr val="FFFFFF"/>
          </a:solidFill>
          <a:ln w="10583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047323" y="4487334"/>
            <a:ext cx="257535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TRẢ LỜI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2126284" y="4897934"/>
            <a:ext cx="2417432" cy="65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clinical answer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2164384" y="5626034"/>
            <a:ext cx="2341232" cy="804333"/>
          </a:xfrm>
          <a:prstGeom prst="roundRect">
            <a:avLst>
              <a:gd name="adj" fmla="val 7105"/>
            </a:avLst>
          </a:prstGeom>
          <a:solidFill>
            <a:srgbClr val="EEF2F7"/>
          </a:solidFill>
          <a:ln/>
        </p:spPr>
      </p:sp>
      <p:sp>
        <p:nvSpPr>
          <p:cNvPr id="33" name="Text 30"/>
          <p:cNvSpPr/>
          <p:nvPr/>
        </p:nvSpPr>
        <p:spPr>
          <a:xfrm>
            <a:off x="12278684" y="5721284"/>
            <a:ext cx="2112632" cy="651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"Yes" · "No" · Mô tả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11763375" y="6917035"/>
            <a:ext cx="31432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13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RA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809625"/>
            <a:ext cx="1781175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4A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MÔ HÌNH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1334492"/>
            <a:ext cx="17811751" cy="876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chọn </a:t>
            </a:r>
            <a:pPr algn="l" indent="0" marL="0">
              <a:lnSpc>
                <a:spcPct val="110000"/>
              </a:lnSpc>
              <a:buNone/>
            </a:pPr>
            <a:r>
              <a:rPr lang="en-US" sz="6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4?</a:t>
            </a:r>
            <a:endParaRPr lang="en-US" sz="6000" dirty="0"/>
          </a:p>
        </p:txBody>
      </p:sp>
      <p:sp>
        <p:nvSpPr>
          <p:cNvPr id="7" name="Shape 4"/>
          <p:cNvSpPr/>
          <p:nvPr/>
        </p:nvSpPr>
        <p:spPr>
          <a:xfrm>
            <a:off x="1047750" y="2629628"/>
            <a:ext cx="4476750" cy="2072349"/>
          </a:xfrm>
          <a:prstGeom prst="roundRect">
            <a:avLst>
              <a:gd name="adj" fmla="val 4596"/>
            </a:avLst>
          </a:prstGeom>
          <a:solidFill>
            <a:srgbClr val="FFFFFF">
              <a:alpha val="6000"/>
            </a:srgbClr>
          </a:solidFill>
          <a:ln w="1058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24901" y="2906779"/>
            <a:ext cx="431469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natively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324901" y="3327962"/>
            <a:ext cx="4040122" cy="113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ảnh và văn bản trong một pipeline duy nhất, không cần adapter ngoài.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715000" y="2629628"/>
            <a:ext cx="4476750" cy="2072349"/>
          </a:xfrm>
          <a:prstGeom prst="roundRect">
            <a:avLst>
              <a:gd name="adj" fmla="val 4596"/>
            </a:avLst>
          </a:prstGeom>
          <a:solidFill>
            <a:srgbClr val="FFFFFF">
              <a:alpha val="6000"/>
            </a:srgbClr>
          </a:solidFill>
          <a:ln w="1058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92151" y="2906779"/>
            <a:ext cx="431469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&amp; efficient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992151" y="3327962"/>
            <a:ext cx="4040122" cy="113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4B tham số — đủ năng lực biểu diễn, đủ nhỏ để fine-tune trong giới hạn GPU.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47750" y="4892477"/>
            <a:ext cx="4476750" cy="2072349"/>
          </a:xfrm>
          <a:prstGeom prst="roundRect">
            <a:avLst>
              <a:gd name="adj" fmla="val 4596"/>
            </a:avLst>
          </a:prstGeom>
          <a:solidFill>
            <a:srgbClr val="FFFFFF">
              <a:alpha val="6000"/>
            </a:srgbClr>
          </a:solidFill>
          <a:ln w="1058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24901" y="5169628"/>
            <a:ext cx="431469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tối ưu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324901" y="5590812"/>
            <a:ext cx="4040122" cy="113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sharing, GQA, local–global attention — giảm bộ nhớ và tăng tốc suy luận.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715000" y="4892477"/>
            <a:ext cx="4476750" cy="2072349"/>
          </a:xfrm>
          <a:prstGeom prst="roundRect">
            <a:avLst>
              <a:gd name="adj" fmla="val 4596"/>
            </a:avLst>
          </a:prstGeom>
          <a:solidFill>
            <a:srgbClr val="FFFFFF">
              <a:alpha val="6000"/>
            </a:srgbClr>
          </a:solidFill>
          <a:ln w="1058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92151" y="5169628"/>
            <a:ext cx="431469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Instruction-tuned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992151" y="5590812"/>
            <a:ext cx="4040122" cy="1134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Gemma-4-4B-it: đã pre-train instruction following, dễ adapt cho domain y tế.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428625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MÔ HÌNH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799042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Gemma 4 E4B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1563026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98431" y="1858037"/>
            <a:ext cx="6194723" cy="64768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39267" y="1858037"/>
            <a:ext cx="836108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NỔI BẬT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9639267" y="2266487"/>
            <a:ext cx="2641534" cy="503701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1" name="Text 7"/>
          <p:cNvSpPr/>
          <p:nvPr/>
        </p:nvSpPr>
        <p:spPr>
          <a:xfrm>
            <a:off x="9791667" y="2380787"/>
            <a:ext cx="2415980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phần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12280802" y="2266487"/>
            <a:ext cx="4959450" cy="503701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3" name="Text 9"/>
          <p:cNvSpPr/>
          <p:nvPr/>
        </p:nvSpPr>
        <p:spPr>
          <a:xfrm>
            <a:off x="12433202" y="2380787"/>
            <a:ext cx="4803433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9639267" y="2770188"/>
            <a:ext cx="7600984" cy="8453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639267" y="3604948"/>
            <a:ext cx="264153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2"/>
          <p:cNvSpPr/>
          <p:nvPr/>
        </p:nvSpPr>
        <p:spPr>
          <a:xfrm>
            <a:off x="9791667" y="2894013"/>
            <a:ext cx="2415980" cy="62521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Sharing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12280802" y="3604948"/>
            <a:ext cx="495945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4"/>
          <p:cNvSpPr/>
          <p:nvPr/>
        </p:nvSpPr>
        <p:spPr>
          <a:xfrm>
            <a:off x="12433202" y="2894013"/>
            <a:ext cx="4803433" cy="625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KV cache, tiết kiệm memory cho long context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9639267" y="3615531"/>
            <a:ext cx="7600984" cy="8506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9639267" y="4455583"/>
            <a:ext cx="264153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7"/>
          <p:cNvSpPr/>
          <p:nvPr/>
        </p:nvSpPr>
        <p:spPr>
          <a:xfrm>
            <a:off x="9791667" y="3739356"/>
            <a:ext cx="2415980" cy="630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GQA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2280802" y="4455583"/>
            <a:ext cx="495945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19"/>
          <p:cNvSpPr/>
          <p:nvPr/>
        </p:nvSpPr>
        <p:spPr>
          <a:xfrm>
            <a:off x="12433202" y="3739356"/>
            <a:ext cx="4803433" cy="630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query head dùng chung KV head, giảm cost attention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9639267" y="4466167"/>
            <a:ext cx="7600984" cy="850635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Shape 21"/>
          <p:cNvSpPr/>
          <p:nvPr/>
        </p:nvSpPr>
        <p:spPr>
          <a:xfrm>
            <a:off x="9639267" y="5306219"/>
            <a:ext cx="264153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2"/>
          <p:cNvSpPr/>
          <p:nvPr/>
        </p:nvSpPr>
        <p:spPr>
          <a:xfrm>
            <a:off x="9791667" y="4589992"/>
            <a:ext cx="2415980" cy="6305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+ Global Attn.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12280802" y="5306219"/>
            <a:ext cx="495945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4"/>
          <p:cNvSpPr/>
          <p:nvPr/>
        </p:nvSpPr>
        <p:spPr>
          <a:xfrm>
            <a:off x="12433202" y="4589992"/>
            <a:ext cx="4803433" cy="630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Cân bằng ngữ cảnh cục bộ &amp; toàn cục (5:1 ratio)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9639267" y="5316802"/>
            <a:ext cx="7600984" cy="8506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6"/>
          <p:cNvSpPr/>
          <p:nvPr/>
        </p:nvSpPr>
        <p:spPr>
          <a:xfrm>
            <a:off x="9639267" y="6156854"/>
            <a:ext cx="264153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7"/>
          <p:cNvSpPr/>
          <p:nvPr/>
        </p:nvSpPr>
        <p:spPr>
          <a:xfrm>
            <a:off x="9791667" y="5440627"/>
            <a:ext cx="2415980" cy="63050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Embeddings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280802" y="6156854"/>
            <a:ext cx="495945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29"/>
          <p:cNvSpPr/>
          <p:nvPr/>
        </p:nvSpPr>
        <p:spPr>
          <a:xfrm>
            <a:off x="12433202" y="5440627"/>
            <a:ext cx="4803433" cy="630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capacity biểu diễn không tăng nhiều compute</a:t>
            </a:r>
            <a:endParaRPr lang="en-US" sz="1800" dirty="0"/>
          </a:p>
        </p:txBody>
      </p:sp>
      <p:sp>
        <p:nvSpPr>
          <p:cNvPr id="34" name="Shape 30"/>
          <p:cNvSpPr/>
          <p:nvPr/>
        </p:nvSpPr>
        <p:spPr>
          <a:xfrm>
            <a:off x="9639267" y="6167438"/>
            <a:ext cx="7600984" cy="845344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5" name="Text 31"/>
          <p:cNvSpPr/>
          <p:nvPr/>
        </p:nvSpPr>
        <p:spPr>
          <a:xfrm>
            <a:off x="9791667" y="6291263"/>
            <a:ext cx="2415980" cy="635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E-series Deployment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12433202" y="6291263"/>
            <a:ext cx="4803433" cy="635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edge/mobile, phù hợp tài nguyên hạn chế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9639267" y="7165082"/>
            <a:ext cx="836108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Raschka (2025) · Google Gemma Docs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542892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MÔ HÌNH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913309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Fine-Tuning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1696475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947914"/>
            <a:ext cx="7991409" cy="1819837"/>
          </a:xfrm>
          <a:prstGeom prst="roundRect">
            <a:avLst>
              <a:gd name="adj" fmla="val 5234"/>
            </a:avLst>
          </a:pr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1047750" y="3947914"/>
            <a:ext cx="42333" cy="1819837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7"/>
          <p:cNvSpPr/>
          <p:nvPr/>
        </p:nvSpPr>
        <p:spPr>
          <a:xfrm>
            <a:off x="1337634" y="4214482"/>
            <a:ext cx="819937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37634" y="4606065"/>
            <a:ext cx="819937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Unsloth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337634" y="5158383"/>
            <a:ext cx="8199371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nhanh hơn, tiết kiệm VRAM so với HuggingFace Trainer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9248676" y="3947914"/>
            <a:ext cx="7991574" cy="1819837"/>
          </a:xfrm>
          <a:prstGeom prst="roundRect">
            <a:avLst>
              <a:gd name="adj" fmla="val 5234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9248676" y="3947914"/>
            <a:ext cx="42333" cy="181983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9538560" y="4214482"/>
            <a:ext cx="81995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NỀN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538560" y="4606065"/>
            <a:ext cx="81995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Gemma-4-4B-it</a:t>
            </a:r>
            <a:endParaRPr lang="en-US" sz="3300" dirty="0"/>
          </a:p>
        </p:txBody>
      </p:sp>
      <p:sp>
        <p:nvSpPr>
          <p:cNvPr id="17" name="Text 14"/>
          <p:cNvSpPr/>
          <p:nvPr/>
        </p:nvSpPr>
        <p:spPr>
          <a:xfrm>
            <a:off x="9538560" y="5158383"/>
            <a:ext cx="819955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instruction-tuned, hỗ trợ ảnh + text cùng pipeline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47750" y="5977268"/>
            <a:ext cx="7991409" cy="1819837"/>
          </a:xfrm>
          <a:prstGeom prst="roundRect">
            <a:avLst>
              <a:gd name="adj" fmla="val 5234"/>
            </a:avLst>
          </a:prstGeom>
          <a:solidFill>
            <a:srgbClr val="F7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7750" y="5977268"/>
            <a:ext cx="42333" cy="1819837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0" name="Text 17"/>
          <p:cNvSpPr/>
          <p:nvPr/>
        </p:nvSpPr>
        <p:spPr>
          <a:xfrm>
            <a:off x="1337634" y="6243836"/>
            <a:ext cx="819937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37634" y="6635419"/>
            <a:ext cx="819937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1337634" y="7187737"/>
            <a:ext cx="8199371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Low-Rank Adaptation — chỉ cập nhật một phần nhỏ tham số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248676" y="5977268"/>
            <a:ext cx="7991574" cy="1819837"/>
          </a:xfrm>
          <a:prstGeom prst="roundRect">
            <a:avLst>
              <a:gd name="adj" fmla="val 5234"/>
            </a:avLst>
          </a:prstGeom>
          <a:solidFill>
            <a:srgbClr val="F7FAFC"/>
          </a:solidFill>
          <a:ln/>
        </p:spPr>
      </p:sp>
      <p:sp>
        <p:nvSpPr>
          <p:cNvPr id="24" name="Shape 21"/>
          <p:cNvSpPr/>
          <p:nvPr/>
        </p:nvSpPr>
        <p:spPr>
          <a:xfrm>
            <a:off x="9248676" y="5977268"/>
            <a:ext cx="42333" cy="1819837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5" name="Text 22"/>
          <p:cNvSpPr/>
          <p:nvPr/>
        </p:nvSpPr>
        <p:spPr>
          <a:xfrm>
            <a:off x="9538560" y="6243836"/>
            <a:ext cx="81995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&amp; THEO DÕI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538560" y="6635419"/>
            <a:ext cx="819955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VQA-RAD</a:t>
            </a:r>
            <a:endParaRPr lang="en-US" sz="3300" dirty="0"/>
          </a:p>
        </p:txBody>
      </p:sp>
      <p:sp>
        <p:nvSpPr>
          <p:cNvPr id="27" name="Text 24"/>
          <p:cNvSpPr/>
          <p:nvPr/>
        </p:nvSpPr>
        <p:spPr>
          <a:xfrm>
            <a:off x="9538560" y="7187737"/>
            <a:ext cx="8199554" cy="380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 split · Checkpoint &amp; logging theo dõi loss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466659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MÔ HÌNH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837076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Huấn Luyện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1601060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1896070"/>
            <a:ext cx="873816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CONFIGURATION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47750" y="2285504"/>
            <a:ext cx="2889250" cy="503701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0" name="Text 7"/>
          <p:cNvSpPr/>
          <p:nvPr/>
        </p:nvSpPr>
        <p:spPr>
          <a:xfrm>
            <a:off x="1200150" y="2399804"/>
            <a:ext cx="2671128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số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937000" y="2285504"/>
            <a:ext cx="5054534" cy="503701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2" name="Text 9"/>
          <p:cNvSpPr/>
          <p:nvPr/>
        </p:nvSpPr>
        <p:spPr>
          <a:xfrm>
            <a:off x="4013582" y="2399804"/>
            <a:ext cx="4901370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47750" y="2789204"/>
            <a:ext cx="7943784" cy="1120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47750" y="3898801"/>
            <a:ext cx="288925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2"/>
          <p:cNvSpPr/>
          <p:nvPr/>
        </p:nvSpPr>
        <p:spPr>
          <a:xfrm>
            <a:off x="1200150" y="2913029"/>
            <a:ext cx="2671128" cy="90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Rank (r)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937000" y="3898801"/>
            <a:ext cx="505453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4"/>
          <p:cNvSpPr/>
          <p:nvPr/>
        </p:nvSpPr>
        <p:spPr>
          <a:xfrm>
            <a:off x="4013582" y="2913029"/>
            <a:ext cx="4901370" cy="900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47750" y="3909384"/>
            <a:ext cx="7943784" cy="113092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1047750" y="5029729"/>
            <a:ext cx="288925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7"/>
          <p:cNvSpPr/>
          <p:nvPr/>
        </p:nvSpPr>
        <p:spPr>
          <a:xfrm>
            <a:off x="1200150" y="4033209"/>
            <a:ext cx="2671128" cy="910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 Alpha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937000" y="5029729"/>
            <a:ext cx="505453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19"/>
          <p:cNvSpPr/>
          <p:nvPr/>
        </p:nvSpPr>
        <p:spPr>
          <a:xfrm>
            <a:off x="4013582" y="4033209"/>
            <a:ext cx="4901370" cy="910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47750" y="5040313"/>
            <a:ext cx="7943784" cy="1130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1047750" y="6160658"/>
            <a:ext cx="288925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2"/>
          <p:cNvSpPr/>
          <p:nvPr/>
        </p:nvSpPr>
        <p:spPr>
          <a:xfrm>
            <a:off x="1200150" y="5164138"/>
            <a:ext cx="2671128" cy="910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937000" y="6160658"/>
            <a:ext cx="505453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4"/>
          <p:cNvSpPr/>
          <p:nvPr/>
        </p:nvSpPr>
        <p:spPr>
          <a:xfrm>
            <a:off x="4013582" y="5164138"/>
            <a:ext cx="4901370" cy="910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047750" y="6171241"/>
            <a:ext cx="7943784" cy="113092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9" name="Shape 26"/>
          <p:cNvSpPr/>
          <p:nvPr/>
        </p:nvSpPr>
        <p:spPr>
          <a:xfrm>
            <a:off x="1047750" y="7291586"/>
            <a:ext cx="288925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" y="6295066"/>
            <a:ext cx="2671128" cy="910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3937000" y="7291586"/>
            <a:ext cx="505453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9"/>
          <p:cNvSpPr/>
          <p:nvPr/>
        </p:nvSpPr>
        <p:spPr>
          <a:xfrm>
            <a:off x="4013582" y="6295066"/>
            <a:ext cx="4901370" cy="910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047750" y="7302169"/>
            <a:ext cx="7943784" cy="18209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1200150" y="7425994"/>
            <a:ext cx="2671128" cy="161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Modules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4013582" y="7425994"/>
            <a:ext cx="4901370" cy="161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q/k/v/o + gate/up/down_proj </a:t>
            </a:r>
            <a:pPr algn="ct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Lang. &amp; Vision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9296301" y="1896070"/>
            <a:ext cx="873834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HYPERPARAMETERS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9296301" y="2285504"/>
            <a:ext cx="4429952" cy="503701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38" name="Text 35"/>
          <p:cNvSpPr/>
          <p:nvPr/>
        </p:nvSpPr>
        <p:spPr>
          <a:xfrm>
            <a:off x="9448701" y="2399804"/>
            <a:ext cx="4258051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Tham số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3726253" y="2285504"/>
            <a:ext cx="3513997" cy="503701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40" name="Text 37"/>
          <p:cNvSpPr/>
          <p:nvPr/>
        </p:nvSpPr>
        <p:spPr>
          <a:xfrm>
            <a:off x="13825943" y="2399804"/>
            <a:ext cx="3314617" cy="313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9296301" y="2789204"/>
            <a:ext cx="7943949" cy="8980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9296301" y="3676716"/>
            <a:ext cx="4429952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0"/>
          <p:cNvSpPr/>
          <p:nvPr/>
        </p:nvSpPr>
        <p:spPr>
          <a:xfrm>
            <a:off x="9448701" y="2893979"/>
            <a:ext cx="4258051" cy="716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3726253" y="3676716"/>
            <a:ext cx="3513997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2"/>
          <p:cNvSpPr/>
          <p:nvPr/>
        </p:nvSpPr>
        <p:spPr>
          <a:xfrm>
            <a:off x="13825943" y="2893979"/>
            <a:ext cx="3314617" cy="7160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2e-4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9296301" y="3687300"/>
            <a:ext cx="7943949" cy="9073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7" name="Shape 44"/>
          <p:cNvSpPr/>
          <p:nvPr/>
        </p:nvSpPr>
        <p:spPr>
          <a:xfrm>
            <a:off x="9296301" y="4584072"/>
            <a:ext cx="4429952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5"/>
          <p:cNvSpPr/>
          <p:nvPr/>
        </p:nvSpPr>
        <p:spPr>
          <a:xfrm>
            <a:off x="9448701" y="3792075"/>
            <a:ext cx="4258051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13726253" y="4584072"/>
            <a:ext cx="3513997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7"/>
          <p:cNvSpPr/>
          <p:nvPr/>
        </p:nvSpPr>
        <p:spPr>
          <a:xfrm>
            <a:off x="13825943" y="3792075"/>
            <a:ext cx="3314617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 8-bit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9296301" y="4594655"/>
            <a:ext cx="7943949" cy="907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9"/>
          <p:cNvSpPr/>
          <p:nvPr/>
        </p:nvSpPr>
        <p:spPr>
          <a:xfrm>
            <a:off x="9296301" y="5491427"/>
            <a:ext cx="4429952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0"/>
          <p:cNvSpPr/>
          <p:nvPr/>
        </p:nvSpPr>
        <p:spPr>
          <a:xfrm>
            <a:off x="9448701" y="4699430"/>
            <a:ext cx="4258051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 / Device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3726253" y="5491427"/>
            <a:ext cx="3513997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5" name="Text 52"/>
          <p:cNvSpPr/>
          <p:nvPr/>
        </p:nvSpPr>
        <p:spPr>
          <a:xfrm>
            <a:off x="13825943" y="4699430"/>
            <a:ext cx="3314617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9296301" y="5502011"/>
            <a:ext cx="7943949" cy="9073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7" name="Shape 54"/>
          <p:cNvSpPr/>
          <p:nvPr/>
        </p:nvSpPr>
        <p:spPr>
          <a:xfrm>
            <a:off x="9296301" y="6398783"/>
            <a:ext cx="4429952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5"/>
          <p:cNvSpPr/>
          <p:nvPr/>
        </p:nvSpPr>
        <p:spPr>
          <a:xfrm>
            <a:off x="9448701" y="5606786"/>
            <a:ext cx="4258051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Accumulation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13726253" y="6398783"/>
            <a:ext cx="3513997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0" name="Text 57"/>
          <p:cNvSpPr/>
          <p:nvPr/>
        </p:nvSpPr>
        <p:spPr>
          <a:xfrm>
            <a:off x="13825943" y="5606786"/>
            <a:ext cx="3314617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→ eff. batch = 4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9296301" y="6409366"/>
            <a:ext cx="7943949" cy="9073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59"/>
          <p:cNvSpPr/>
          <p:nvPr/>
        </p:nvSpPr>
        <p:spPr>
          <a:xfrm>
            <a:off x="9296301" y="7306139"/>
            <a:ext cx="4429952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0"/>
          <p:cNvSpPr/>
          <p:nvPr/>
        </p:nvSpPr>
        <p:spPr>
          <a:xfrm>
            <a:off x="9448701" y="6514141"/>
            <a:ext cx="4258051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Scheduler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3726253" y="7306139"/>
            <a:ext cx="3513997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Text 62"/>
          <p:cNvSpPr/>
          <p:nvPr/>
        </p:nvSpPr>
        <p:spPr>
          <a:xfrm>
            <a:off x="13825943" y="6514141"/>
            <a:ext cx="3314617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9296301" y="7316721"/>
            <a:ext cx="7943949" cy="907356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7" name="Shape 64"/>
          <p:cNvSpPr/>
          <p:nvPr/>
        </p:nvSpPr>
        <p:spPr>
          <a:xfrm>
            <a:off x="9296301" y="8213494"/>
            <a:ext cx="4429952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8" name="Text 65"/>
          <p:cNvSpPr/>
          <p:nvPr/>
        </p:nvSpPr>
        <p:spPr>
          <a:xfrm>
            <a:off x="9448701" y="7421496"/>
            <a:ext cx="4258051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/ Max Steps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13726253" y="8213494"/>
            <a:ext cx="3513997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0" name="Text 67"/>
          <p:cNvSpPr/>
          <p:nvPr/>
        </p:nvSpPr>
        <p:spPr>
          <a:xfrm>
            <a:off x="13825943" y="7421496"/>
            <a:ext cx="3314617" cy="7253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898</a:t>
            </a:r>
            <a:endParaRPr lang="en-US" sz="1800" dirty="0"/>
          </a:p>
        </p:txBody>
      </p:sp>
      <p:sp>
        <p:nvSpPr>
          <p:cNvPr id="71" name="Shape 68"/>
          <p:cNvSpPr/>
          <p:nvPr/>
        </p:nvSpPr>
        <p:spPr>
          <a:xfrm>
            <a:off x="9296301" y="8224077"/>
            <a:ext cx="7943949" cy="89908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69"/>
          <p:cNvSpPr/>
          <p:nvPr/>
        </p:nvSpPr>
        <p:spPr>
          <a:xfrm>
            <a:off x="9448701" y="8328852"/>
            <a:ext cx="4258051" cy="72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Optimization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13825943" y="8328852"/>
            <a:ext cx="3314617" cy="7276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quantization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1047750" y="9294482"/>
            <a:ext cx="16192501" cy="573484"/>
          </a:xfrm>
          <a:prstGeom prst="roundRect">
            <a:avLst>
              <a:gd name="adj" fmla="val 6644"/>
            </a:avLst>
          </a:prstGeom>
          <a:solidFill>
            <a:srgbClr val="1565C0">
              <a:alpha val="7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1047750" y="9294482"/>
            <a:ext cx="31750" cy="5734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6" name="Text 73"/>
          <p:cNvSpPr/>
          <p:nvPr/>
        </p:nvSpPr>
        <p:spPr>
          <a:xfrm>
            <a:off x="1289050" y="9427832"/>
            <a:ext cx="16227426" cy="344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4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★ Cùng cấu hình áp dụng cho cả </a:t>
            </a:r>
            <a:pPr algn="l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Gemma-4 E2B (2B) </a:t>
            </a:r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4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và </a:t>
            </a:r>
            <a:pPr algn="l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Gemma-4 E4B (4B)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466659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DỮ LIỆU &amp; ĐÁNH GIÁ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837076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Dữ Liệu VQA-RAD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1620242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1953452"/>
            <a:ext cx="5270500" cy="1686719"/>
          </a:xfrm>
          <a:prstGeom prst="roundRect">
            <a:avLst>
              <a:gd name="adj" fmla="val 5647"/>
            </a:avLst>
          </a:prstGeom>
          <a:solidFill>
            <a:srgbClr val="F7FAFC"/>
          </a:solidFill>
          <a:ln/>
        </p:spPr>
      </p:sp>
      <p:sp>
        <p:nvSpPr>
          <p:cNvPr id="9" name="Shape 6"/>
          <p:cNvSpPr/>
          <p:nvPr/>
        </p:nvSpPr>
        <p:spPr>
          <a:xfrm>
            <a:off x="1047750" y="1953452"/>
            <a:ext cx="5270500" cy="3175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0" name="Text 7"/>
          <p:cNvSpPr/>
          <p:nvPr/>
        </p:nvSpPr>
        <p:spPr>
          <a:xfrm>
            <a:off x="1257267" y="2213736"/>
            <a:ext cx="5336613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2,244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257267" y="2728020"/>
            <a:ext cx="533661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Cặp Hỏi-Đáp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257267" y="3115303"/>
            <a:ext cx="533661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lọc trùng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508750" y="1953452"/>
            <a:ext cx="5270500" cy="1686719"/>
          </a:xfrm>
          <a:prstGeom prst="roundRect">
            <a:avLst>
              <a:gd name="adj" fmla="val 5647"/>
            </a:avLst>
          </a:prstGeom>
          <a:solidFill>
            <a:srgbClr val="F7FAFC"/>
          </a:solidFill>
          <a:ln/>
        </p:spPr>
      </p:sp>
      <p:sp>
        <p:nvSpPr>
          <p:cNvPr id="14" name="Shape 11"/>
          <p:cNvSpPr/>
          <p:nvPr/>
        </p:nvSpPr>
        <p:spPr>
          <a:xfrm>
            <a:off x="6508750" y="1953452"/>
            <a:ext cx="5270500" cy="3175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2"/>
          <p:cNvSpPr/>
          <p:nvPr/>
        </p:nvSpPr>
        <p:spPr>
          <a:xfrm>
            <a:off x="6718267" y="2213736"/>
            <a:ext cx="5336613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1,793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718267" y="2728020"/>
            <a:ext cx="533661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Train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718267" y="3115303"/>
            <a:ext cx="533661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 tổng mẫu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1969751" y="1953452"/>
            <a:ext cx="5270500" cy="1686719"/>
          </a:xfrm>
          <a:prstGeom prst="roundRect">
            <a:avLst>
              <a:gd name="adj" fmla="val 5647"/>
            </a:avLst>
          </a:prstGeom>
          <a:solidFill>
            <a:srgbClr val="F7FAFC"/>
          </a:solidFill>
          <a:ln/>
        </p:spPr>
      </p:sp>
      <p:sp>
        <p:nvSpPr>
          <p:cNvPr id="19" name="Shape 16"/>
          <p:cNvSpPr/>
          <p:nvPr/>
        </p:nvSpPr>
        <p:spPr>
          <a:xfrm>
            <a:off x="11969751" y="1953452"/>
            <a:ext cx="5270500" cy="31750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0" name="Text 17"/>
          <p:cNvSpPr/>
          <p:nvPr/>
        </p:nvSpPr>
        <p:spPr>
          <a:xfrm>
            <a:off x="12179267" y="2213736"/>
            <a:ext cx="5336613" cy="4953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451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12179267" y="2728020"/>
            <a:ext cx="533661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Test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2179267" y="3115303"/>
            <a:ext cx="533661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· Benchmark chính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047750" y="3944938"/>
            <a:ext cx="7962966" cy="2015629"/>
          </a:xfrm>
          <a:prstGeom prst="roundRect">
            <a:avLst>
              <a:gd name="adj" fmla="val 4726"/>
            </a:avLst>
          </a:prstGeom>
          <a:solidFill>
            <a:srgbClr val="EEF2F7"/>
          </a:solidFill>
          <a:ln/>
        </p:spPr>
      </p:sp>
      <p:sp>
        <p:nvSpPr>
          <p:cNvPr id="24" name="Text 21"/>
          <p:cNvSpPr/>
          <p:nvPr/>
        </p:nvSpPr>
        <p:spPr>
          <a:xfrm>
            <a:off x="1314318" y="4173471"/>
            <a:ext cx="817281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LOẠI TẬP TEST (451 MẪU)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14318" y="4847498"/>
            <a:ext cx="152301" cy="152301"/>
          </a:xfrm>
          <a:prstGeom prst="roundRect">
            <a:avLst>
              <a:gd name="adj" fmla="val 18762"/>
            </a:avLst>
          </a:prstGeom>
          <a:solidFill>
            <a:srgbClr val="1565C0"/>
          </a:solidFill>
          <a:ln/>
        </p:spPr>
      </p:sp>
      <p:sp>
        <p:nvSpPr>
          <p:cNvPr id="26" name="Text 23"/>
          <p:cNvSpPr/>
          <p:nvPr/>
        </p:nvSpPr>
        <p:spPr>
          <a:xfrm>
            <a:off x="1580885" y="4600939"/>
            <a:ext cx="262883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251 mẫu </a:t>
            </a:r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(~56%)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580885" y="4950189"/>
            <a:ext cx="262883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Closed-ended (Yes/No)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4237302" y="4847498"/>
            <a:ext cx="152301" cy="152301"/>
          </a:xfrm>
          <a:prstGeom prst="roundRect">
            <a:avLst>
              <a:gd name="adj" fmla="val 18762"/>
            </a:avLst>
          </a:prstGeom>
          <a:solidFill>
            <a:srgbClr val="1E88E5"/>
          </a:solidFill>
          <a:ln/>
        </p:spPr>
      </p:sp>
      <p:sp>
        <p:nvSpPr>
          <p:cNvPr id="29" name="Text 26"/>
          <p:cNvSpPr/>
          <p:nvPr/>
        </p:nvSpPr>
        <p:spPr>
          <a:xfrm>
            <a:off x="4503870" y="4600939"/>
            <a:ext cx="2874037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mẫu </a:t>
            </a:r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(~44%)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4503870" y="4950189"/>
            <a:ext cx="287403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 (câu hỏi mở)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9277284" y="3944938"/>
            <a:ext cx="7962966" cy="2015629"/>
          </a:xfrm>
          <a:prstGeom prst="roundRect">
            <a:avLst>
              <a:gd name="adj" fmla="val 4726"/>
            </a:avLst>
          </a:prstGeom>
          <a:solidFill>
            <a:srgbClr val="EEF2F7"/>
          </a:solidFill>
          <a:ln/>
        </p:spPr>
      </p:sp>
      <p:sp>
        <p:nvSpPr>
          <p:cNvPr id="32" name="Text 29"/>
          <p:cNvSpPr/>
          <p:nvPr/>
        </p:nvSpPr>
        <p:spPr>
          <a:xfrm>
            <a:off x="9543852" y="4173471"/>
            <a:ext cx="817281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PHÂN TÁCH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543852" y="4600939"/>
            <a:ext cx="7652726" cy="1169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(Yes/No) dễ hơn — giống trắc nghiệm đúng/sai 50-50. Open-ended khó hơn nhiều vì đòi hỏi mô hình thực sự hiểu hình ảnh, không chỉ đoán mò.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47750" y="9326067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Nguồn: Lau et al. (2018) · Scientific Data (Nature) · MedPix®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466659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DỮ LIỆU &amp; ĐÁNH GIÁ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837076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 Dữ Liệu RadImageNet-VQA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1620242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1953452"/>
            <a:ext cx="854953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DỮ LIỆU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47750" y="2457152"/>
            <a:ext cx="7772301" cy="7144081"/>
          </a:xfrm>
          <a:prstGeom prst="roundRect">
            <a:avLst>
              <a:gd name="adj" fmla="val 1333"/>
            </a:avLst>
          </a:prstGeom>
          <a:solidFill>
            <a:srgbClr val="0B1929"/>
          </a:solidFill>
          <a:ln/>
        </p:spPr>
      </p:sp>
      <p:sp>
        <p:nvSpPr>
          <p:cNvPr id="10" name="Text 7"/>
          <p:cNvSpPr/>
          <p:nvPr/>
        </p:nvSpPr>
        <p:spPr>
          <a:xfrm>
            <a:off x="1314318" y="2761919"/>
            <a:ext cx="796308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HuggingFace Dataset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14318" y="3248753"/>
            <a:ext cx="167640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2990619" y="3269919"/>
            <a:ext cx="3178539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raidium/RadImageNet-VQA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14318" y="3716404"/>
            <a:ext cx="167640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990619" y="3737570"/>
            <a:ext cx="1206963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14318" y="4184055"/>
            <a:ext cx="167640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990619" y="4205222"/>
            <a:ext cx="578743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314318" y="4651706"/>
            <a:ext cx="7239166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314318" y="5012366"/>
            <a:ext cx="167640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mẫu gốc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990619" y="4832450"/>
            <a:ext cx="1363530" cy="533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9,000</a:t>
            </a:r>
            <a:endParaRPr lang="en-US" sz="3900" dirty="0"/>
          </a:p>
        </p:txBody>
      </p:sp>
      <p:sp>
        <p:nvSpPr>
          <p:cNvPr id="20" name="Text 17"/>
          <p:cNvSpPr/>
          <p:nvPr/>
        </p:nvSpPr>
        <p:spPr>
          <a:xfrm>
            <a:off x="9315318" y="1953452"/>
            <a:ext cx="871742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LẤY 500 MẪU ĐÁNH GIÁ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315318" y="2419119"/>
            <a:ext cx="8717426" cy="403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sampling — lấy đều 3 nhóm để đảm bảo đánh giá cân bằng: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315318" y="2975240"/>
            <a:ext cx="7924933" cy="914135"/>
          </a:xfrm>
          <a:prstGeom prst="roundRect">
            <a:avLst>
              <a:gd name="adj" fmla="val 8336"/>
            </a:avLst>
          </a:prstGeom>
          <a:solidFill>
            <a:srgbClr val="F7FAFC"/>
          </a:solidFill>
          <a:ln/>
        </p:spPr>
      </p:sp>
      <p:sp>
        <p:nvSpPr>
          <p:cNvPr id="23" name="Shape 20"/>
          <p:cNvSpPr/>
          <p:nvPr/>
        </p:nvSpPr>
        <p:spPr>
          <a:xfrm>
            <a:off x="9315318" y="2975240"/>
            <a:ext cx="31750" cy="91413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4" name="Text 21"/>
          <p:cNvSpPr/>
          <p:nvPr/>
        </p:nvSpPr>
        <p:spPr>
          <a:xfrm>
            <a:off x="9480385" y="3222790"/>
            <a:ext cx="775361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</a:t>
            </a:r>
            <a:endParaRPr lang="en-US" sz="3300" dirty="0"/>
          </a:p>
        </p:txBody>
      </p:sp>
      <p:sp>
        <p:nvSpPr>
          <p:cNvPr id="25" name="Text 22"/>
          <p:cNvSpPr/>
          <p:nvPr/>
        </p:nvSpPr>
        <p:spPr>
          <a:xfrm>
            <a:off x="10446246" y="3146557"/>
            <a:ext cx="405475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Open-ended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446246" y="3421724"/>
            <a:ext cx="405475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mở — tên cơ quan, loại bệnh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315318" y="4022659"/>
            <a:ext cx="7924933" cy="914135"/>
          </a:xfrm>
          <a:prstGeom prst="roundRect">
            <a:avLst>
              <a:gd name="adj" fmla="val 8336"/>
            </a:avLst>
          </a:prstGeom>
          <a:solidFill>
            <a:srgbClr val="F7FAFC"/>
          </a:solidFill>
          <a:ln/>
        </p:spPr>
      </p:sp>
      <p:sp>
        <p:nvSpPr>
          <p:cNvPr id="28" name="Shape 25"/>
          <p:cNvSpPr/>
          <p:nvPr/>
        </p:nvSpPr>
        <p:spPr>
          <a:xfrm>
            <a:off x="9315318" y="4022659"/>
            <a:ext cx="31750" cy="914135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6"/>
          <p:cNvSpPr/>
          <p:nvPr/>
        </p:nvSpPr>
        <p:spPr>
          <a:xfrm>
            <a:off x="9480385" y="4270210"/>
            <a:ext cx="775361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</a:t>
            </a:r>
            <a:endParaRPr lang="en-US" sz="3300" dirty="0"/>
          </a:p>
        </p:txBody>
      </p:sp>
      <p:sp>
        <p:nvSpPr>
          <p:cNvPr id="30" name="Text 27"/>
          <p:cNvSpPr/>
          <p:nvPr/>
        </p:nvSpPr>
        <p:spPr>
          <a:xfrm>
            <a:off x="10446246" y="4193977"/>
            <a:ext cx="26035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Closed-ended (Yes/No)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0446246" y="4469143"/>
            <a:ext cx="260355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đóng nhị phân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9315318" y="5070078"/>
            <a:ext cx="7924933" cy="914135"/>
          </a:xfrm>
          <a:prstGeom prst="roundRect">
            <a:avLst>
              <a:gd name="adj" fmla="val 8336"/>
            </a:avLst>
          </a:prstGeom>
          <a:solidFill>
            <a:srgbClr val="F7FAFC"/>
          </a:solidFill>
          <a:ln/>
        </p:spPr>
      </p:sp>
      <p:sp>
        <p:nvSpPr>
          <p:cNvPr id="33" name="Shape 30"/>
          <p:cNvSpPr/>
          <p:nvPr/>
        </p:nvSpPr>
        <p:spPr>
          <a:xfrm>
            <a:off x="9315318" y="5070078"/>
            <a:ext cx="31750" cy="914135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34" name="Text 31"/>
          <p:cNvSpPr/>
          <p:nvPr/>
        </p:nvSpPr>
        <p:spPr>
          <a:xfrm>
            <a:off x="9480385" y="5317629"/>
            <a:ext cx="775361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</a:t>
            </a:r>
            <a:endParaRPr lang="en-US" sz="3300" dirty="0"/>
          </a:p>
        </p:txBody>
      </p:sp>
      <p:sp>
        <p:nvSpPr>
          <p:cNvPr id="35" name="Text 32"/>
          <p:cNvSpPr/>
          <p:nvPr/>
        </p:nvSpPr>
        <p:spPr>
          <a:xfrm>
            <a:off x="10446246" y="5241396"/>
            <a:ext cx="237380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Choice (MC)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0446246" y="5516563"/>
            <a:ext cx="237380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Trắc nghiệm A/B/C/D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9315318" y="9038333"/>
            <a:ext cx="7924933" cy="562901"/>
          </a:xfrm>
          <a:prstGeom prst="roundRect">
            <a:avLst>
              <a:gd name="adj" fmla="val 6769"/>
            </a:avLst>
          </a:prstGeom>
          <a:solidFill>
            <a:srgbClr val="1565C0">
              <a:alpha val="7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9315318" y="9038333"/>
            <a:ext cx="31750" cy="562901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9" name="Text 36"/>
          <p:cNvSpPr/>
          <p:nvPr/>
        </p:nvSpPr>
        <p:spPr>
          <a:xfrm>
            <a:off x="9518518" y="9171683"/>
            <a:ext cx="7788031" cy="334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4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Mục đích: đánh giá khả năng </a:t>
            </a:r>
            <a:pPr algn="l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quát hóa </a:t>
            </a:r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4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ngoài domain VQA-RAD gốc.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238125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DỮ LIỆU &amp; ĐÁNH GIÁ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608542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Phương Pháp Đánh Giá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1391708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1724918"/>
            <a:ext cx="8420034" cy="2273763"/>
          </a:xfrm>
          <a:prstGeom prst="roundRect">
            <a:avLst>
              <a:gd name="adj" fmla="val 4189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047750" y="1724918"/>
            <a:ext cx="42333" cy="2273763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0" name="Text 7"/>
          <p:cNvSpPr/>
          <p:nvPr/>
        </p:nvSpPr>
        <p:spPr>
          <a:xfrm>
            <a:off x="1337634" y="1991486"/>
            <a:ext cx="70475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7942130" y="2081444"/>
            <a:ext cx="140591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37634" y="2601020"/>
            <a:ext cx="8119077" cy="1169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 </a:t>
            </a:r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nhị phân (0 hoặc 1)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Câu trả lời dự đoán phải khớp 100% với đáp án gốc (sau chuẩn hóa chữ thường, bỏ dấu câu). Sai dù 1 từ → điểm = 0. </a:t>
            </a:r>
            <a:pPr algn="l" indent="0" marL="0">
              <a:lnSpc>
                <a:spcPct val="165000"/>
              </a:lnSpc>
              <a:buNone/>
            </a:pPr>
            <a:r>
              <a:rPr lang="en-US" sz="1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điểm gắt nhất.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47750" y="4189181"/>
            <a:ext cx="8420034" cy="1896732"/>
          </a:xfrm>
          <a:prstGeom prst="roundRect">
            <a:avLst>
              <a:gd name="adj" fmla="val 5022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1047750" y="4189181"/>
            <a:ext cx="42333" cy="189673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5" name="Text 12"/>
          <p:cNvSpPr/>
          <p:nvPr/>
        </p:nvSpPr>
        <p:spPr>
          <a:xfrm>
            <a:off x="1337634" y="4455749"/>
            <a:ext cx="565183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7626450" y="4545707"/>
            <a:ext cx="175316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F1 Score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37634" y="5065283"/>
            <a:ext cx="8119077" cy="792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credit </a:t>
            </a:r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token overlap. Mô hình viết thừa hoặc thiếu từ vẫn có điểm. Phản ánh đúng ngữ nghĩa hơn cho câu hỏi mở. </a:t>
            </a:r>
            <a:pPr algn="l" indent="0" marL="0">
              <a:lnSpc>
                <a:spcPct val="165000"/>
              </a:lnSpc>
              <a:buNone/>
            </a:pPr>
            <a:r>
              <a:rPr lang="en-US" sz="1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điểm nương tay.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810585" y="1724918"/>
            <a:ext cx="817263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SO SÁNH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9810585" y="2190419"/>
            <a:ext cx="7429666" cy="1411552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 w="10583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21168" y="2201003"/>
            <a:ext cx="7408499" cy="514284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1" name="Shape 18"/>
          <p:cNvSpPr/>
          <p:nvPr/>
        </p:nvSpPr>
        <p:spPr>
          <a:xfrm>
            <a:off x="9821168" y="2704703"/>
            <a:ext cx="7408499" cy="10583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22" name="Text 19"/>
          <p:cNvSpPr/>
          <p:nvPr/>
        </p:nvSpPr>
        <p:spPr>
          <a:xfrm>
            <a:off x="9992487" y="2315270"/>
            <a:ext cx="77724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pathology is present?"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992487" y="2848570"/>
            <a:ext cx="55774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992487" y="3182938"/>
            <a:ext cx="55774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"A"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740596" y="2848570"/>
            <a:ext cx="121655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740596" y="3182938"/>
            <a:ext cx="121655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"A) nodule"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5883303" y="2848570"/>
            <a:ext cx="117504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= 0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5883303" y="3123737"/>
            <a:ext cx="117504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0.667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810585" y="3754272"/>
            <a:ext cx="7429666" cy="1411552"/>
          </a:xfrm>
          <a:prstGeom prst="roundRect">
            <a:avLst>
              <a:gd name="adj" fmla="val 5398"/>
            </a:avLst>
          </a:prstGeom>
          <a:solidFill>
            <a:srgbClr val="FFFFFF"/>
          </a:solidFill>
          <a:ln w="10583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821168" y="3764856"/>
            <a:ext cx="7408499" cy="514284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1" name="Shape 28"/>
          <p:cNvSpPr/>
          <p:nvPr/>
        </p:nvSpPr>
        <p:spPr>
          <a:xfrm>
            <a:off x="9821168" y="4268556"/>
            <a:ext cx="7408499" cy="10583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32" name="Text 29"/>
          <p:cNvSpPr/>
          <p:nvPr/>
        </p:nvSpPr>
        <p:spPr>
          <a:xfrm>
            <a:off x="9992487" y="3879123"/>
            <a:ext cx="7772450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the patient have urolithiasis?"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992487" y="4412423"/>
            <a:ext cx="557742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9992487" y="4746790"/>
            <a:ext cx="55774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"no"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740596" y="4412423"/>
            <a:ext cx="55311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10740596" y="4746790"/>
            <a:ext cx="55311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"no"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6137302" y="4412423"/>
            <a:ext cx="92104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= 1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6137302" y="4687590"/>
            <a:ext cx="92104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1.0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9810585" y="5356159"/>
            <a:ext cx="7429666" cy="1008393"/>
          </a:xfrm>
          <a:prstGeom prst="roundRect">
            <a:avLst>
              <a:gd name="adj" fmla="val 3778"/>
            </a:avLst>
          </a:prstGeom>
          <a:solidFill>
            <a:srgbClr val="1565C0">
              <a:alpha val="7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9810585" y="5356159"/>
            <a:ext cx="31750" cy="1008393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1" name="Text 38"/>
          <p:cNvSpPr/>
          <p:nvPr/>
        </p:nvSpPr>
        <p:spPr>
          <a:xfrm>
            <a:off x="10013785" y="5489509"/>
            <a:ext cx="7277906" cy="779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4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Kết quả luôn báo cáo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cột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4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: Overall · Open-ended · Closed-ended cho cả EM và F1.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1721115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DỮ LIỆU &amp; ĐÁNH GIÁ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091531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Thức F1-score (Token-level)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2855516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3112492"/>
            <a:ext cx="7837025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THỨC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47750" y="3558977"/>
            <a:ext cx="7124568" cy="1431561"/>
          </a:xfrm>
          <a:prstGeom prst="roundRect">
            <a:avLst>
              <a:gd name="adj" fmla="val 5323"/>
            </a:avLst>
          </a:prstGeom>
          <a:solidFill>
            <a:srgbClr val="F7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1047750" y="3558977"/>
            <a:ext cx="31750" cy="1431561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8"/>
          <p:cNvSpPr/>
          <p:nvPr/>
        </p:nvSpPr>
        <p:spPr>
          <a:xfrm>
            <a:off x="1289017" y="3730294"/>
            <a:ext cx="734116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(Độ chính xác)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89017" y="4306425"/>
            <a:ext cx="30473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650835" y="4285258"/>
            <a:ext cx="23627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944192" y="4455253"/>
            <a:ext cx="3256194" cy="10583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5" name="Text 12"/>
          <p:cNvSpPr/>
          <p:nvPr/>
        </p:nvSpPr>
        <p:spPr>
          <a:xfrm>
            <a:off x="1944192" y="4100711"/>
            <a:ext cx="3581814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từ khớp chung (Pred ∩ Gold)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456326" y="4522920"/>
            <a:ext cx="2454937" cy="33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số từ trong Pred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47750" y="5123822"/>
            <a:ext cx="7124568" cy="1431561"/>
          </a:xfrm>
          <a:prstGeom prst="roundRect">
            <a:avLst>
              <a:gd name="adj" fmla="val 5323"/>
            </a:avLst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1047750" y="5123822"/>
            <a:ext cx="31750" cy="1431561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6"/>
          <p:cNvSpPr/>
          <p:nvPr/>
        </p:nvSpPr>
        <p:spPr>
          <a:xfrm>
            <a:off x="1289017" y="5295140"/>
            <a:ext cx="734116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(Độ bao phủ)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89017" y="5871270"/>
            <a:ext cx="30473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1650835" y="5850103"/>
            <a:ext cx="23627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1944192" y="6020098"/>
            <a:ext cx="3256194" cy="10583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3" name="Text 20"/>
          <p:cNvSpPr/>
          <p:nvPr/>
        </p:nvSpPr>
        <p:spPr>
          <a:xfrm>
            <a:off x="1944192" y="5665557"/>
            <a:ext cx="3581814" cy="34501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từ khớp chung (Pred ∩ Gold)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2456160" y="6087765"/>
            <a:ext cx="2455482" cy="33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số từ trong Gold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047750" y="6688667"/>
            <a:ext cx="7124568" cy="1378645"/>
          </a:xfrm>
          <a:prstGeom prst="roundRect">
            <a:avLst>
              <a:gd name="adj" fmla="val 5527"/>
            </a:avLst>
          </a:prstGeom>
          <a:solidFill>
            <a:srgbClr val="1565C0"/>
          </a:solidFill>
          <a:ln/>
        </p:spPr>
      </p:sp>
      <p:sp>
        <p:nvSpPr>
          <p:cNvPr id="26" name="Text 23"/>
          <p:cNvSpPr/>
          <p:nvPr/>
        </p:nvSpPr>
        <p:spPr>
          <a:xfrm>
            <a:off x="1257267" y="6859985"/>
            <a:ext cx="737608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(Trung bình điều hòa P &amp; R)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257267" y="7409656"/>
            <a:ext cx="387582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701932" y="7388490"/>
            <a:ext cx="23627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100" dirty="0"/>
          </a:p>
        </p:txBody>
      </p:sp>
      <p:sp>
        <p:nvSpPr>
          <p:cNvPr id="29" name="Shape 26"/>
          <p:cNvSpPr/>
          <p:nvPr/>
        </p:nvSpPr>
        <p:spPr>
          <a:xfrm>
            <a:off x="1995289" y="7553193"/>
            <a:ext cx="961264" cy="10583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995289" y="7230401"/>
            <a:ext cx="103746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P × 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2188931" y="7620860"/>
            <a:ext cx="650015" cy="313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+ R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8629386" y="3112492"/>
            <a:ext cx="947195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13" kern="0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THỰC TẾ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8629386" y="3558977"/>
            <a:ext cx="8610865" cy="1903512"/>
          </a:xfrm>
          <a:prstGeom prst="roundRect">
            <a:avLst>
              <a:gd name="adj" fmla="val 5004"/>
            </a:avLst>
          </a:prstGeom>
          <a:solidFill>
            <a:srgbClr val="F7FAFC"/>
          </a:solidFill>
          <a:ln/>
        </p:spPr>
      </p:sp>
      <p:sp>
        <p:nvSpPr>
          <p:cNvPr id="34" name="Shape 31"/>
          <p:cNvSpPr/>
          <p:nvPr/>
        </p:nvSpPr>
        <p:spPr>
          <a:xfrm>
            <a:off x="8629386" y="3558977"/>
            <a:ext cx="8610865" cy="503701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5" name="Shape 32"/>
          <p:cNvSpPr/>
          <p:nvPr/>
        </p:nvSpPr>
        <p:spPr>
          <a:xfrm>
            <a:off x="8629386" y="3558977"/>
            <a:ext cx="31750" cy="503701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6" name="Text 33"/>
          <p:cNvSpPr/>
          <p:nvPr/>
        </p:nvSpPr>
        <p:spPr>
          <a:xfrm>
            <a:off x="8832453" y="3673244"/>
            <a:ext cx="9060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A — Model thiếu từ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8800704" y="4195961"/>
            <a:ext cx="276380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8800704" y="4520737"/>
            <a:ext cx="2763804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"right lung opacity"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11618020" y="4195961"/>
            <a:ext cx="193470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11618020" y="4520737"/>
            <a:ext cx="1934700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"lung opacity"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8800704" y="4899588"/>
            <a:ext cx="1701602" cy="429617"/>
          </a:xfrm>
          <a:prstGeom prst="roundRect">
            <a:avLst>
              <a:gd name="adj" fmla="val 13303"/>
            </a:avLst>
          </a:prstGeom>
          <a:solidFill>
            <a:srgbClr val="EFF6FF"/>
          </a:solidFill>
          <a:ln/>
        </p:spPr>
      </p:sp>
      <p:sp>
        <p:nvSpPr>
          <p:cNvPr id="42" name="Text 39"/>
          <p:cNvSpPr/>
          <p:nvPr/>
        </p:nvSpPr>
        <p:spPr>
          <a:xfrm>
            <a:off x="8934054" y="4966263"/>
            <a:ext cx="1511102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6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 = 2/2 = </a:t>
            </a:r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0597555" y="4899588"/>
            <a:ext cx="1709374" cy="429617"/>
          </a:xfrm>
          <a:prstGeom prst="roundRect">
            <a:avLst>
              <a:gd name="adj" fmla="val 13303"/>
            </a:avLst>
          </a:prstGeom>
          <a:solidFill>
            <a:srgbClr val="EFF6FF"/>
          </a:solidFill>
          <a:ln/>
        </p:spPr>
      </p:sp>
      <p:sp>
        <p:nvSpPr>
          <p:cNvPr id="44" name="Text 41"/>
          <p:cNvSpPr/>
          <p:nvPr/>
        </p:nvSpPr>
        <p:spPr>
          <a:xfrm>
            <a:off x="10730905" y="4966263"/>
            <a:ext cx="1518874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6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 = 2/3 = </a:t>
            </a:r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12402179" y="4899588"/>
            <a:ext cx="1903346" cy="429617"/>
          </a:xfrm>
          <a:prstGeom prst="roundRect">
            <a:avLst>
              <a:gd name="adj" fmla="val 13303"/>
            </a:avLst>
          </a:prstGeom>
          <a:solidFill>
            <a:srgbClr val="1565C0"/>
          </a:solidFill>
          <a:ln/>
        </p:spPr>
      </p:sp>
      <p:sp>
        <p:nvSpPr>
          <p:cNvPr id="46" name="Text 43"/>
          <p:cNvSpPr/>
          <p:nvPr/>
        </p:nvSpPr>
        <p:spPr>
          <a:xfrm>
            <a:off x="12535529" y="4966263"/>
            <a:ext cx="1712846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≈ 0.80 (80%)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14400776" y="4899588"/>
            <a:ext cx="996818" cy="429617"/>
          </a:xfrm>
          <a:prstGeom prst="roundRect">
            <a:avLst>
              <a:gd name="adj" fmla="val 13303"/>
            </a:avLst>
          </a:prstGeom>
          <a:solidFill>
            <a:srgbClr val="FEE2E2"/>
          </a:solidFill>
          <a:ln/>
        </p:spPr>
      </p:sp>
      <p:sp>
        <p:nvSpPr>
          <p:cNvPr id="48" name="Text 45"/>
          <p:cNvSpPr/>
          <p:nvPr/>
        </p:nvSpPr>
        <p:spPr>
          <a:xfrm>
            <a:off x="14534126" y="4966263"/>
            <a:ext cx="806318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= 0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8629386" y="5595772"/>
            <a:ext cx="8610865" cy="1903512"/>
          </a:xfrm>
          <a:prstGeom prst="roundRect">
            <a:avLst>
              <a:gd name="adj" fmla="val 5004"/>
            </a:avLst>
          </a:prstGeom>
          <a:solidFill>
            <a:srgbClr val="F7FAFC"/>
          </a:solidFill>
          <a:ln/>
        </p:spPr>
      </p:sp>
      <p:sp>
        <p:nvSpPr>
          <p:cNvPr id="50" name="Shape 47"/>
          <p:cNvSpPr/>
          <p:nvPr/>
        </p:nvSpPr>
        <p:spPr>
          <a:xfrm>
            <a:off x="8629386" y="5595772"/>
            <a:ext cx="8610865" cy="503701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51" name="Shape 48"/>
          <p:cNvSpPr/>
          <p:nvPr/>
        </p:nvSpPr>
        <p:spPr>
          <a:xfrm>
            <a:off x="8629386" y="5595772"/>
            <a:ext cx="31750" cy="503701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52" name="Text 49"/>
          <p:cNvSpPr/>
          <p:nvPr/>
        </p:nvSpPr>
        <p:spPr>
          <a:xfrm>
            <a:off x="8832453" y="5710039"/>
            <a:ext cx="906012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 dụ B — Model dài dòng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8800704" y="6232757"/>
            <a:ext cx="95560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54" name="Text 51"/>
          <p:cNvSpPr/>
          <p:nvPr/>
        </p:nvSpPr>
        <p:spPr>
          <a:xfrm>
            <a:off x="8800704" y="6557533"/>
            <a:ext cx="955609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"liver"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9984879" y="6232757"/>
            <a:ext cx="3454847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9984879" y="6557533"/>
            <a:ext cx="345484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"large cyst in the liver"</a:t>
            </a:r>
            <a:endParaRPr lang="en-US" sz="1800" dirty="0"/>
          </a:p>
        </p:txBody>
      </p:sp>
      <p:sp>
        <p:nvSpPr>
          <p:cNvPr id="57" name="Shape 54"/>
          <p:cNvSpPr/>
          <p:nvPr/>
        </p:nvSpPr>
        <p:spPr>
          <a:xfrm>
            <a:off x="8800704" y="6936383"/>
            <a:ext cx="1701602" cy="429617"/>
          </a:xfrm>
          <a:prstGeom prst="roundRect">
            <a:avLst>
              <a:gd name="adj" fmla="val 13303"/>
            </a:avLst>
          </a:prstGeom>
          <a:solidFill>
            <a:srgbClr val="FEF3C7"/>
          </a:solidFill>
          <a:ln/>
        </p:spPr>
      </p:sp>
      <p:sp>
        <p:nvSpPr>
          <p:cNvPr id="58" name="Text 55"/>
          <p:cNvSpPr/>
          <p:nvPr/>
        </p:nvSpPr>
        <p:spPr>
          <a:xfrm>
            <a:off x="8934054" y="7003058"/>
            <a:ext cx="1511102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FEF3C7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 = 1/5 = </a:t>
            </a:r>
            <a:pPr algn="l"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0.20</a:t>
            </a:r>
            <a:endParaRPr lang="en-US" sz="1800" dirty="0"/>
          </a:p>
        </p:txBody>
      </p:sp>
      <p:sp>
        <p:nvSpPr>
          <p:cNvPr id="59" name="Shape 56"/>
          <p:cNvSpPr/>
          <p:nvPr/>
        </p:nvSpPr>
        <p:spPr>
          <a:xfrm>
            <a:off x="10597555" y="6936383"/>
            <a:ext cx="1709374" cy="429617"/>
          </a:xfrm>
          <a:prstGeom prst="roundRect">
            <a:avLst>
              <a:gd name="adj" fmla="val 13303"/>
            </a:avLst>
          </a:prstGeom>
          <a:solidFill>
            <a:srgbClr val="EFF6FF"/>
          </a:solidFill>
          <a:ln/>
        </p:spPr>
      </p:sp>
      <p:sp>
        <p:nvSpPr>
          <p:cNvPr id="60" name="Text 57"/>
          <p:cNvSpPr/>
          <p:nvPr/>
        </p:nvSpPr>
        <p:spPr>
          <a:xfrm>
            <a:off x="10730905" y="7003058"/>
            <a:ext cx="1518874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6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 = 1/1 = </a:t>
            </a:r>
            <a:pPr algn="l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12402179" y="6936383"/>
            <a:ext cx="1903346" cy="429617"/>
          </a:xfrm>
          <a:prstGeom prst="roundRect">
            <a:avLst>
              <a:gd name="adj" fmla="val 13303"/>
            </a:avLst>
          </a:prstGeom>
          <a:solidFill>
            <a:srgbClr val="EA580C"/>
          </a:solidFill>
          <a:ln/>
        </p:spPr>
      </p:sp>
      <p:sp>
        <p:nvSpPr>
          <p:cNvPr id="62" name="Text 59"/>
          <p:cNvSpPr/>
          <p:nvPr/>
        </p:nvSpPr>
        <p:spPr>
          <a:xfrm>
            <a:off x="12535529" y="7003058"/>
            <a:ext cx="1712846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≈ 0.33 (33%)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14400776" y="6936383"/>
            <a:ext cx="996818" cy="429617"/>
          </a:xfrm>
          <a:prstGeom prst="roundRect">
            <a:avLst>
              <a:gd name="adj" fmla="val 13303"/>
            </a:avLst>
          </a:prstGeom>
          <a:solidFill>
            <a:srgbClr val="FEE2E2"/>
          </a:solidFill>
          <a:ln/>
        </p:spPr>
      </p:sp>
      <p:sp>
        <p:nvSpPr>
          <p:cNvPr id="64" name="Text 61"/>
          <p:cNvSpPr/>
          <p:nvPr/>
        </p:nvSpPr>
        <p:spPr>
          <a:xfrm>
            <a:off x="14534126" y="7003058"/>
            <a:ext cx="806318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= 0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8629386" y="7632568"/>
            <a:ext cx="8610865" cy="1018977"/>
          </a:xfrm>
          <a:prstGeom prst="roundRect">
            <a:avLst>
              <a:gd name="adj" fmla="val 3739"/>
            </a:avLst>
          </a:prstGeom>
          <a:solidFill>
            <a:srgbClr val="1565C0">
              <a:alpha val="7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8629386" y="7632568"/>
            <a:ext cx="31750" cy="101897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7" name="Text 64"/>
          <p:cNvSpPr/>
          <p:nvPr/>
        </p:nvSpPr>
        <p:spPr>
          <a:xfrm>
            <a:off x="8832586" y="7765918"/>
            <a:ext cx="8494541" cy="7903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cần F1?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4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EM cho cả hai ví dụ điểm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4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dù model đúng 80% / 33%. F1 phản ánh sát thực năng lực mô hình với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mở (Open-ended)</a:t>
            </a:r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34155"/>
                </a:solidFill>
                <a:highlight>
                  <a:srgbClr val="EFF4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2301379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KẾT QUẢ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671796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Thực Nghiệm — VQA-RAD (451 mẫu)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3416763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673740"/>
            <a:ext cx="1524000" cy="52255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9" name="Text 6"/>
          <p:cNvSpPr/>
          <p:nvPr/>
        </p:nvSpPr>
        <p:spPr>
          <a:xfrm>
            <a:off x="1200150" y="3797565"/>
            <a:ext cx="129540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71750" y="3673740"/>
            <a:ext cx="2284181" cy="52255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1" name="Text 8"/>
          <p:cNvSpPr/>
          <p:nvPr/>
        </p:nvSpPr>
        <p:spPr>
          <a:xfrm>
            <a:off x="2647950" y="3797565"/>
            <a:ext cx="2131781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Overall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855931" y="3673740"/>
            <a:ext cx="2156189" cy="52255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3" name="Text 10"/>
          <p:cNvSpPr/>
          <p:nvPr/>
        </p:nvSpPr>
        <p:spPr>
          <a:xfrm>
            <a:off x="4932131" y="3797565"/>
            <a:ext cx="2003789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Overall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012120" y="3673740"/>
            <a:ext cx="2007030" cy="52255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5" name="Text 12"/>
          <p:cNvSpPr/>
          <p:nvPr/>
        </p:nvSpPr>
        <p:spPr>
          <a:xfrm>
            <a:off x="7088320" y="3797565"/>
            <a:ext cx="1854630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Open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019150" y="3673740"/>
            <a:ext cx="1879038" cy="52255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7" name="Text 14"/>
          <p:cNvSpPr/>
          <p:nvPr/>
        </p:nvSpPr>
        <p:spPr>
          <a:xfrm>
            <a:off x="9095350" y="3797565"/>
            <a:ext cx="1726638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Open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898188" y="3673740"/>
            <a:ext cx="2263014" cy="52255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9" name="Text 16"/>
          <p:cNvSpPr/>
          <p:nvPr/>
        </p:nvSpPr>
        <p:spPr>
          <a:xfrm>
            <a:off x="10974388" y="3797565"/>
            <a:ext cx="2110614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Closed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3161202" y="3673740"/>
            <a:ext cx="2135188" cy="52255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1" name="Text 18"/>
          <p:cNvSpPr/>
          <p:nvPr/>
        </p:nvSpPr>
        <p:spPr>
          <a:xfrm>
            <a:off x="13237402" y="3797565"/>
            <a:ext cx="1982788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Closed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5296390" y="3673740"/>
            <a:ext cx="1943861" cy="522552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3" name="Text 20"/>
          <p:cNvSpPr/>
          <p:nvPr/>
        </p:nvSpPr>
        <p:spPr>
          <a:xfrm>
            <a:off x="15372590" y="3797565"/>
            <a:ext cx="1791461" cy="313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Len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047750" y="4196292"/>
            <a:ext cx="16192501" cy="530159"/>
          </a:xfrm>
          <a:prstGeom prst="rect">
            <a:avLst/>
          </a:prstGeom>
          <a:solidFill>
            <a:srgbClr val="F8FAFC">
              <a:alpha val="7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047750" y="4715867"/>
            <a:ext cx="152400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3"/>
          <p:cNvSpPr/>
          <p:nvPr/>
        </p:nvSpPr>
        <p:spPr>
          <a:xfrm>
            <a:off x="1200150" y="4310592"/>
            <a:ext cx="1295400" cy="329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base_2b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2571750" y="4715867"/>
            <a:ext cx="2284181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2647950" y="4310592"/>
            <a:ext cx="2131781" cy="329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4855931" y="4715867"/>
            <a:ext cx="2156189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4932131" y="4310592"/>
            <a:ext cx="2003789" cy="329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1.76%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7012120" y="4715867"/>
            <a:ext cx="200703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9"/>
          <p:cNvSpPr/>
          <p:nvPr/>
        </p:nvSpPr>
        <p:spPr>
          <a:xfrm>
            <a:off x="7088320" y="4310592"/>
            <a:ext cx="1854630" cy="329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9019150" y="4715867"/>
            <a:ext cx="1879038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1"/>
          <p:cNvSpPr/>
          <p:nvPr/>
        </p:nvSpPr>
        <p:spPr>
          <a:xfrm>
            <a:off x="9095350" y="4310592"/>
            <a:ext cx="1726638" cy="329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3.55%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10898188" y="4715867"/>
            <a:ext cx="226301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3"/>
          <p:cNvSpPr/>
          <p:nvPr/>
        </p:nvSpPr>
        <p:spPr>
          <a:xfrm>
            <a:off x="10974388" y="4310592"/>
            <a:ext cx="2110614" cy="329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13161202" y="4715867"/>
            <a:ext cx="2135188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5"/>
          <p:cNvSpPr/>
          <p:nvPr/>
        </p:nvSpPr>
        <p:spPr>
          <a:xfrm>
            <a:off x="13237402" y="4310592"/>
            <a:ext cx="1982788" cy="329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0.34%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15296390" y="4715867"/>
            <a:ext cx="1943861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7"/>
          <p:cNvSpPr/>
          <p:nvPr/>
        </p:nvSpPr>
        <p:spPr>
          <a:xfrm>
            <a:off x="15372590" y="4310592"/>
            <a:ext cx="1791461" cy="329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~10–15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047750" y="4726451"/>
            <a:ext cx="16192501" cy="535451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047750" y="5251318"/>
            <a:ext cx="1524000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3" name="Text 40"/>
          <p:cNvSpPr/>
          <p:nvPr/>
        </p:nvSpPr>
        <p:spPr>
          <a:xfrm>
            <a:off x="1200150" y="4840751"/>
            <a:ext cx="1295400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base_4b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2571750" y="5251318"/>
            <a:ext cx="2284181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5" name="Text 42"/>
          <p:cNvSpPr/>
          <p:nvPr/>
        </p:nvSpPr>
        <p:spPr>
          <a:xfrm>
            <a:off x="2647950" y="4840751"/>
            <a:ext cx="2131781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4855931" y="5251318"/>
            <a:ext cx="2156189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Text 44"/>
          <p:cNvSpPr/>
          <p:nvPr/>
        </p:nvSpPr>
        <p:spPr>
          <a:xfrm>
            <a:off x="4932131" y="4840751"/>
            <a:ext cx="2003789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3.56%</a:t>
            </a:r>
            <a:endParaRPr lang="en-US" sz="1800" dirty="0"/>
          </a:p>
        </p:txBody>
      </p:sp>
      <p:sp>
        <p:nvSpPr>
          <p:cNvPr id="48" name="Shape 45"/>
          <p:cNvSpPr/>
          <p:nvPr/>
        </p:nvSpPr>
        <p:spPr>
          <a:xfrm>
            <a:off x="7012120" y="5251318"/>
            <a:ext cx="2007030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6"/>
          <p:cNvSpPr/>
          <p:nvPr/>
        </p:nvSpPr>
        <p:spPr>
          <a:xfrm>
            <a:off x="7088320" y="4840751"/>
            <a:ext cx="1854630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9019150" y="5251318"/>
            <a:ext cx="1879038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1" name="Text 48"/>
          <p:cNvSpPr/>
          <p:nvPr/>
        </p:nvSpPr>
        <p:spPr>
          <a:xfrm>
            <a:off x="9095350" y="4840751"/>
            <a:ext cx="1726638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5.12%</a:t>
            </a:r>
            <a:endParaRPr lang="en-US" sz="1800" dirty="0"/>
          </a:p>
        </p:txBody>
      </p:sp>
      <p:sp>
        <p:nvSpPr>
          <p:cNvPr id="52" name="Shape 49"/>
          <p:cNvSpPr/>
          <p:nvPr/>
        </p:nvSpPr>
        <p:spPr>
          <a:xfrm>
            <a:off x="10898188" y="5251318"/>
            <a:ext cx="2263014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Text 50"/>
          <p:cNvSpPr/>
          <p:nvPr/>
        </p:nvSpPr>
        <p:spPr>
          <a:xfrm>
            <a:off x="10974388" y="4840751"/>
            <a:ext cx="2110614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13161202" y="5251318"/>
            <a:ext cx="2135188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5" name="Text 52"/>
          <p:cNvSpPr/>
          <p:nvPr/>
        </p:nvSpPr>
        <p:spPr>
          <a:xfrm>
            <a:off x="13237402" y="4840751"/>
            <a:ext cx="1982788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2.32%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5296390" y="5251318"/>
            <a:ext cx="1943861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7" name="Text 54"/>
          <p:cNvSpPr/>
          <p:nvPr/>
        </p:nvSpPr>
        <p:spPr>
          <a:xfrm>
            <a:off x="15372590" y="4840751"/>
            <a:ext cx="1791461" cy="334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~10–15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1047750" y="5261901"/>
            <a:ext cx="16192501" cy="54603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9" name="Shape 56"/>
          <p:cNvSpPr/>
          <p:nvPr/>
        </p:nvSpPr>
        <p:spPr>
          <a:xfrm>
            <a:off x="1047750" y="5797352"/>
            <a:ext cx="1524000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60" name="Text 57"/>
          <p:cNvSpPr/>
          <p:nvPr/>
        </p:nvSpPr>
        <p:spPr>
          <a:xfrm>
            <a:off x="1200150" y="5376201"/>
            <a:ext cx="1295400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ft_2b ✦</a:t>
            </a:r>
            <a:endParaRPr lang="en-US" sz="1800" dirty="0"/>
          </a:p>
        </p:txBody>
      </p:sp>
      <p:sp>
        <p:nvSpPr>
          <p:cNvPr id="61" name="Shape 58"/>
          <p:cNvSpPr/>
          <p:nvPr/>
        </p:nvSpPr>
        <p:spPr>
          <a:xfrm>
            <a:off x="2571750" y="5797352"/>
            <a:ext cx="2284181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62" name="Text 59"/>
          <p:cNvSpPr/>
          <p:nvPr/>
        </p:nvSpPr>
        <p:spPr>
          <a:xfrm>
            <a:off x="2647950" y="5376201"/>
            <a:ext cx="2131781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48.34%</a:t>
            </a:r>
            <a:endParaRPr lang="en-US" sz="1800" dirty="0"/>
          </a:p>
        </p:txBody>
      </p:sp>
      <p:sp>
        <p:nvSpPr>
          <p:cNvPr id="63" name="Shape 60"/>
          <p:cNvSpPr/>
          <p:nvPr/>
        </p:nvSpPr>
        <p:spPr>
          <a:xfrm>
            <a:off x="4855931" y="5797352"/>
            <a:ext cx="2156189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64" name="Text 61"/>
          <p:cNvSpPr/>
          <p:nvPr/>
        </p:nvSpPr>
        <p:spPr>
          <a:xfrm>
            <a:off x="4932131" y="5376201"/>
            <a:ext cx="2003789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53.62%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7012120" y="5261901"/>
            <a:ext cx="2007030" cy="54603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6" name="Shape 63"/>
          <p:cNvSpPr/>
          <p:nvPr/>
        </p:nvSpPr>
        <p:spPr>
          <a:xfrm>
            <a:off x="7012120" y="5797352"/>
            <a:ext cx="2007030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67" name="Text 64"/>
          <p:cNvSpPr/>
          <p:nvPr/>
        </p:nvSpPr>
        <p:spPr>
          <a:xfrm>
            <a:off x="7088320" y="5376201"/>
            <a:ext cx="1854630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23.00%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9019150" y="5261901"/>
            <a:ext cx="1879038" cy="546034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69" name="Shape 66"/>
          <p:cNvSpPr/>
          <p:nvPr/>
        </p:nvSpPr>
        <p:spPr>
          <a:xfrm>
            <a:off x="9019150" y="5797352"/>
            <a:ext cx="1879038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0" name="Text 67"/>
          <p:cNvSpPr/>
          <p:nvPr/>
        </p:nvSpPr>
        <p:spPr>
          <a:xfrm>
            <a:off x="9095350" y="5376201"/>
            <a:ext cx="1726638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34.31%</a:t>
            </a:r>
            <a:endParaRPr lang="en-US" sz="1800" dirty="0"/>
          </a:p>
        </p:txBody>
      </p:sp>
      <p:sp>
        <p:nvSpPr>
          <p:cNvPr id="71" name="Shape 68"/>
          <p:cNvSpPr/>
          <p:nvPr/>
        </p:nvSpPr>
        <p:spPr>
          <a:xfrm>
            <a:off x="10898188" y="5797352"/>
            <a:ext cx="2263014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2" name="Text 69"/>
          <p:cNvSpPr/>
          <p:nvPr/>
        </p:nvSpPr>
        <p:spPr>
          <a:xfrm>
            <a:off x="10974388" y="5376201"/>
            <a:ext cx="2110614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68.53%</a:t>
            </a:r>
            <a:endParaRPr lang="en-US" sz="1800" dirty="0"/>
          </a:p>
        </p:txBody>
      </p:sp>
      <p:sp>
        <p:nvSpPr>
          <p:cNvPr id="73" name="Shape 70"/>
          <p:cNvSpPr/>
          <p:nvPr/>
        </p:nvSpPr>
        <p:spPr>
          <a:xfrm>
            <a:off x="13161202" y="5797352"/>
            <a:ext cx="2135188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4" name="Text 71"/>
          <p:cNvSpPr/>
          <p:nvPr/>
        </p:nvSpPr>
        <p:spPr>
          <a:xfrm>
            <a:off x="13237402" y="5376201"/>
            <a:ext cx="1982788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69.00%</a:t>
            </a:r>
            <a:endParaRPr lang="en-US" sz="1800" dirty="0"/>
          </a:p>
        </p:txBody>
      </p:sp>
      <p:sp>
        <p:nvSpPr>
          <p:cNvPr id="75" name="Shape 72"/>
          <p:cNvSpPr/>
          <p:nvPr/>
        </p:nvSpPr>
        <p:spPr>
          <a:xfrm>
            <a:off x="15296390" y="5797352"/>
            <a:ext cx="1943861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6" name="Text 73"/>
          <p:cNvSpPr/>
          <p:nvPr/>
        </p:nvSpPr>
        <p:spPr>
          <a:xfrm>
            <a:off x="15372590" y="5376201"/>
            <a:ext cx="1791461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~2.00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1047750" y="5807935"/>
            <a:ext cx="16192501" cy="54074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8" name="Text 75"/>
          <p:cNvSpPr/>
          <p:nvPr/>
        </p:nvSpPr>
        <p:spPr>
          <a:xfrm>
            <a:off x="1200150" y="5922235"/>
            <a:ext cx="1295400" cy="35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ft_4b ✦</a:t>
            </a:r>
            <a:endParaRPr lang="en-US" sz="1800" dirty="0"/>
          </a:p>
        </p:txBody>
      </p:sp>
      <p:sp>
        <p:nvSpPr>
          <p:cNvPr id="79" name="Text 76"/>
          <p:cNvSpPr/>
          <p:nvPr/>
        </p:nvSpPr>
        <p:spPr>
          <a:xfrm>
            <a:off x="2647950" y="5922235"/>
            <a:ext cx="2131781" cy="35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48.34%</a:t>
            </a:r>
            <a:endParaRPr lang="en-US" sz="1800" dirty="0"/>
          </a:p>
        </p:txBody>
      </p:sp>
      <p:sp>
        <p:nvSpPr>
          <p:cNvPr id="80" name="Text 77"/>
          <p:cNvSpPr/>
          <p:nvPr/>
        </p:nvSpPr>
        <p:spPr>
          <a:xfrm>
            <a:off x="4932131" y="5922235"/>
            <a:ext cx="2003789" cy="35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53.58%</a:t>
            </a:r>
            <a:endParaRPr lang="en-US" sz="1800" dirty="0"/>
          </a:p>
        </p:txBody>
      </p:sp>
      <p:sp>
        <p:nvSpPr>
          <p:cNvPr id="81" name="Text 78"/>
          <p:cNvSpPr/>
          <p:nvPr/>
        </p:nvSpPr>
        <p:spPr>
          <a:xfrm>
            <a:off x="7088320" y="5922235"/>
            <a:ext cx="1854630" cy="35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20.00%</a:t>
            </a:r>
            <a:endParaRPr lang="en-US" sz="1800" dirty="0"/>
          </a:p>
        </p:txBody>
      </p:sp>
      <p:sp>
        <p:nvSpPr>
          <p:cNvPr id="82" name="Text 79"/>
          <p:cNvSpPr/>
          <p:nvPr/>
        </p:nvSpPr>
        <p:spPr>
          <a:xfrm>
            <a:off x="9095350" y="5922235"/>
            <a:ext cx="1726638" cy="35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31.82%</a:t>
            </a:r>
            <a:endParaRPr lang="en-US" sz="1800" dirty="0"/>
          </a:p>
        </p:txBody>
      </p:sp>
      <p:sp>
        <p:nvSpPr>
          <p:cNvPr id="83" name="Shape 80"/>
          <p:cNvSpPr/>
          <p:nvPr/>
        </p:nvSpPr>
        <p:spPr>
          <a:xfrm>
            <a:off x="10898188" y="5807935"/>
            <a:ext cx="2263014" cy="54074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4" name="Text 81"/>
          <p:cNvSpPr/>
          <p:nvPr/>
        </p:nvSpPr>
        <p:spPr>
          <a:xfrm>
            <a:off x="10974388" y="5922235"/>
            <a:ext cx="2110614" cy="35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70.92%</a:t>
            </a:r>
            <a:endParaRPr lang="en-US" sz="1800" dirty="0"/>
          </a:p>
        </p:txBody>
      </p:sp>
      <p:sp>
        <p:nvSpPr>
          <p:cNvPr id="85" name="Shape 82"/>
          <p:cNvSpPr/>
          <p:nvPr/>
        </p:nvSpPr>
        <p:spPr>
          <a:xfrm>
            <a:off x="13161202" y="5807935"/>
            <a:ext cx="2135188" cy="54074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86" name="Text 83"/>
          <p:cNvSpPr/>
          <p:nvPr/>
        </p:nvSpPr>
        <p:spPr>
          <a:xfrm>
            <a:off x="13237402" y="5922235"/>
            <a:ext cx="1982788" cy="35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70.92%</a:t>
            </a:r>
            <a:endParaRPr lang="en-US" sz="1800" dirty="0"/>
          </a:p>
        </p:txBody>
      </p:sp>
      <p:sp>
        <p:nvSpPr>
          <p:cNvPr id="87" name="Text 84"/>
          <p:cNvSpPr/>
          <p:nvPr/>
        </p:nvSpPr>
        <p:spPr>
          <a:xfrm>
            <a:off x="15372590" y="5922235"/>
            <a:ext cx="1791461" cy="350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~1.70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1047750" y="6767711"/>
            <a:ext cx="5295966" cy="1265370"/>
          </a:xfrm>
          <a:prstGeom prst="roundRect">
            <a:avLst>
              <a:gd name="adj" fmla="val 3011"/>
            </a:avLst>
          </a:prstGeom>
          <a:solidFill>
            <a:srgbClr val="FEE2E2"/>
          </a:solidFill>
          <a:ln/>
        </p:spPr>
      </p:sp>
      <p:sp>
        <p:nvSpPr>
          <p:cNvPr id="89" name="Shape 86"/>
          <p:cNvSpPr/>
          <p:nvPr/>
        </p:nvSpPr>
        <p:spPr>
          <a:xfrm>
            <a:off x="1047750" y="6767711"/>
            <a:ext cx="31750" cy="126537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0" name="Text 87"/>
          <p:cNvSpPr/>
          <p:nvPr/>
        </p:nvSpPr>
        <p:spPr>
          <a:xfrm>
            <a:off x="1250818" y="6900995"/>
            <a:ext cx="541373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models: EM = 0%</a:t>
            </a:r>
            <a:endParaRPr lang="en-US" sz="1800" dirty="0"/>
          </a:p>
        </p:txBody>
      </p:sp>
      <p:sp>
        <p:nvSpPr>
          <p:cNvPr id="91" name="Text 88"/>
          <p:cNvSpPr/>
          <p:nvPr/>
        </p:nvSpPr>
        <p:spPr>
          <a:xfrm>
            <a:off x="1250818" y="7214196"/>
            <a:ext cx="5069228" cy="7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chưa fine-tune trả lời dài dòng (~10–15 từ), không khớp định dạng ngắn kỳ vọng.</a:t>
            </a:r>
            <a:endParaRPr lang="en-US" sz="1800" dirty="0"/>
          </a:p>
        </p:txBody>
      </p:sp>
      <p:sp>
        <p:nvSpPr>
          <p:cNvPr id="92" name="Shape 89"/>
          <p:cNvSpPr/>
          <p:nvPr/>
        </p:nvSpPr>
        <p:spPr>
          <a:xfrm>
            <a:off x="6496017" y="6767711"/>
            <a:ext cx="5295966" cy="1265370"/>
          </a:xfrm>
          <a:prstGeom prst="roundRect">
            <a:avLst>
              <a:gd name="adj" fmla="val 3011"/>
            </a:avLst>
          </a:prstGeom>
          <a:solidFill>
            <a:srgbClr val="DCFCE7"/>
          </a:solidFill>
          <a:ln/>
        </p:spPr>
      </p:sp>
      <p:sp>
        <p:nvSpPr>
          <p:cNvPr id="93" name="Shape 90"/>
          <p:cNvSpPr/>
          <p:nvPr/>
        </p:nvSpPr>
        <p:spPr>
          <a:xfrm>
            <a:off x="6496017" y="6767711"/>
            <a:ext cx="31750" cy="126537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4" name="Text 91"/>
          <p:cNvSpPr/>
          <p:nvPr/>
        </p:nvSpPr>
        <p:spPr>
          <a:xfrm>
            <a:off x="6699085" y="6900995"/>
            <a:ext cx="541373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Fine-tuned: +48.34% EM</a:t>
            </a:r>
            <a:endParaRPr lang="en-US" sz="1800" dirty="0"/>
          </a:p>
        </p:txBody>
      </p:sp>
      <p:sp>
        <p:nvSpPr>
          <p:cNvPr id="95" name="Text 92"/>
          <p:cNvSpPr/>
          <p:nvPr/>
        </p:nvSpPr>
        <p:spPr>
          <a:xfrm>
            <a:off x="6699085" y="7214196"/>
            <a:ext cx="5069228" cy="7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học trả lời cực ngắn (~1.7–2 từ), bám đúng định dạng lâm sàng.</a:t>
            </a:r>
            <a:endParaRPr lang="en-US" sz="1800" dirty="0"/>
          </a:p>
        </p:txBody>
      </p:sp>
      <p:sp>
        <p:nvSpPr>
          <p:cNvPr id="96" name="Shape 93"/>
          <p:cNvSpPr/>
          <p:nvPr/>
        </p:nvSpPr>
        <p:spPr>
          <a:xfrm>
            <a:off x="11944285" y="6767711"/>
            <a:ext cx="5295966" cy="1265370"/>
          </a:xfrm>
          <a:prstGeom prst="roundRect">
            <a:avLst>
              <a:gd name="adj" fmla="val 3011"/>
            </a:avLst>
          </a:prstGeom>
          <a:solidFill>
            <a:srgbClr val="EFF6FF"/>
          </a:solidFill>
          <a:ln/>
        </p:spPr>
      </p:sp>
      <p:sp>
        <p:nvSpPr>
          <p:cNvPr id="97" name="Shape 94"/>
          <p:cNvSpPr/>
          <p:nvPr/>
        </p:nvSpPr>
        <p:spPr>
          <a:xfrm>
            <a:off x="11944285" y="6767711"/>
            <a:ext cx="31750" cy="126537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8" name="Text 95"/>
          <p:cNvSpPr/>
          <p:nvPr/>
        </p:nvSpPr>
        <p:spPr>
          <a:xfrm>
            <a:off x="12147352" y="6900995"/>
            <a:ext cx="541373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ft_4b: Closed-ended vượt trội</a:t>
            </a:r>
            <a:endParaRPr lang="en-US" sz="1800" dirty="0"/>
          </a:p>
        </p:txBody>
      </p:sp>
      <p:sp>
        <p:nvSpPr>
          <p:cNvPr id="99" name="Text 96"/>
          <p:cNvSpPr/>
          <p:nvPr/>
        </p:nvSpPr>
        <p:spPr>
          <a:xfrm>
            <a:off x="12147352" y="7214196"/>
            <a:ext cx="5069228" cy="7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70.92% EM Closed — tốt nhất trong nhóm. ft_2b nhỉnh hơn ở Open-ended (23%).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2368021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KẾT QUẢ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2738438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Thực Nghiệm — RadImageNet-VQA (500 mẫu)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3483405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702348"/>
            <a:ext cx="1428750" cy="484518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3807123"/>
            <a:ext cx="1314450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476500" y="3702348"/>
            <a:ext cx="1884660" cy="484518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1" name="Text 8"/>
          <p:cNvSpPr/>
          <p:nvPr/>
        </p:nvSpPr>
        <p:spPr>
          <a:xfrm>
            <a:off x="2514600" y="3807123"/>
            <a:ext cx="1808460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Overall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361160" y="3702348"/>
            <a:ext cx="1772874" cy="484518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3" name="Text 10"/>
          <p:cNvSpPr/>
          <p:nvPr/>
        </p:nvSpPr>
        <p:spPr>
          <a:xfrm>
            <a:off x="4399260" y="3807123"/>
            <a:ext cx="1696674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Overall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134034" y="3702348"/>
            <a:ext cx="1642236" cy="484518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134" y="3807123"/>
            <a:ext cx="1566036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Open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776270" y="3702348"/>
            <a:ext cx="1530449" cy="484518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7" name="Text 14"/>
          <p:cNvSpPr/>
          <p:nvPr/>
        </p:nvSpPr>
        <p:spPr>
          <a:xfrm>
            <a:off x="7814370" y="3807123"/>
            <a:ext cx="1454249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Open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306719" y="3702348"/>
            <a:ext cx="1866139" cy="484518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9" name="Text 16"/>
          <p:cNvSpPr/>
          <p:nvPr/>
        </p:nvSpPr>
        <p:spPr>
          <a:xfrm>
            <a:off x="9344819" y="3807123"/>
            <a:ext cx="1789939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Closed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1172859" y="3702348"/>
            <a:ext cx="1754353" cy="484518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1" name="Text 18"/>
          <p:cNvSpPr/>
          <p:nvPr/>
        </p:nvSpPr>
        <p:spPr>
          <a:xfrm>
            <a:off x="11210959" y="3807123"/>
            <a:ext cx="1678153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Closed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2927212" y="3702348"/>
            <a:ext cx="1362770" cy="48451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12965312" y="3807123"/>
            <a:ext cx="1286570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MC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14289981" y="3702348"/>
            <a:ext cx="1362770" cy="48451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14328081" y="3807123"/>
            <a:ext cx="1286570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MC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5652750" y="3702348"/>
            <a:ext cx="1587500" cy="484518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27" name="Text 24"/>
          <p:cNvSpPr/>
          <p:nvPr/>
        </p:nvSpPr>
        <p:spPr>
          <a:xfrm>
            <a:off x="15690850" y="3807123"/>
            <a:ext cx="1511300" cy="313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 Len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047750" y="4186866"/>
            <a:ext cx="16192501" cy="492125"/>
          </a:xfrm>
          <a:prstGeom prst="rect">
            <a:avLst/>
          </a:prstGeom>
          <a:solidFill>
            <a:srgbClr val="F8FAFC">
              <a:alpha val="7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047750" y="4668408"/>
            <a:ext cx="142875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7"/>
          <p:cNvSpPr/>
          <p:nvPr/>
        </p:nvSpPr>
        <p:spPr>
          <a:xfrm>
            <a:off x="1143000" y="4282116"/>
            <a:ext cx="1314450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base_2b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2476500" y="4668408"/>
            <a:ext cx="188466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9"/>
          <p:cNvSpPr/>
          <p:nvPr/>
        </p:nvSpPr>
        <p:spPr>
          <a:xfrm>
            <a:off x="2514600" y="4282116"/>
            <a:ext cx="1808460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15.60%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4361160" y="4668408"/>
            <a:ext cx="1772874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1"/>
          <p:cNvSpPr/>
          <p:nvPr/>
        </p:nvSpPr>
        <p:spPr>
          <a:xfrm>
            <a:off x="4399260" y="4282116"/>
            <a:ext cx="1696674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18.73%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6134034" y="4668408"/>
            <a:ext cx="1642236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3"/>
          <p:cNvSpPr/>
          <p:nvPr/>
        </p:nvSpPr>
        <p:spPr>
          <a:xfrm>
            <a:off x="6172134" y="4282116"/>
            <a:ext cx="1566036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7776270" y="4668408"/>
            <a:ext cx="1530449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5"/>
          <p:cNvSpPr/>
          <p:nvPr/>
        </p:nvSpPr>
        <p:spPr>
          <a:xfrm>
            <a:off x="7814370" y="4282116"/>
            <a:ext cx="1454249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0.39%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9306719" y="4668408"/>
            <a:ext cx="1866139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7"/>
          <p:cNvSpPr/>
          <p:nvPr/>
        </p:nvSpPr>
        <p:spPr>
          <a:xfrm>
            <a:off x="9344819" y="4282116"/>
            <a:ext cx="1789939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11172859" y="4668408"/>
            <a:ext cx="1754353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39"/>
          <p:cNvSpPr/>
          <p:nvPr/>
        </p:nvSpPr>
        <p:spPr>
          <a:xfrm>
            <a:off x="11210959" y="4282116"/>
            <a:ext cx="1678153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1.55%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12927212" y="4186866"/>
            <a:ext cx="1362770" cy="49212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4" name="Shape 41"/>
          <p:cNvSpPr/>
          <p:nvPr/>
        </p:nvSpPr>
        <p:spPr>
          <a:xfrm>
            <a:off x="12927212" y="4668408"/>
            <a:ext cx="136277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2"/>
          <p:cNvSpPr/>
          <p:nvPr/>
        </p:nvSpPr>
        <p:spPr>
          <a:xfrm>
            <a:off x="12965312" y="4282116"/>
            <a:ext cx="1286570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46.99%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14289981" y="4186866"/>
            <a:ext cx="1362770" cy="49212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7" name="Shape 44"/>
          <p:cNvSpPr/>
          <p:nvPr/>
        </p:nvSpPr>
        <p:spPr>
          <a:xfrm>
            <a:off x="14289981" y="4668408"/>
            <a:ext cx="136277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5"/>
          <p:cNvSpPr/>
          <p:nvPr/>
        </p:nvSpPr>
        <p:spPr>
          <a:xfrm>
            <a:off x="14328081" y="4282116"/>
            <a:ext cx="1286570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54.46%</a:t>
            </a:r>
            <a:endParaRPr lang="en-US" sz="1800" dirty="0"/>
          </a:p>
        </p:txBody>
      </p:sp>
      <p:sp>
        <p:nvSpPr>
          <p:cNvPr id="49" name="Shape 46"/>
          <p:cNvSpPr/>
          <p:nvPr/>
        </p:nvSpPr>
        <p:spPr>
          <a:xfrm>
            <a:off x="15652750" y="4668408"/>
            <a:ext cx="1587500" cy="1058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0" name="Text 47"/>
          <p:cNvSpPr/>
          <p:nvPr/>
        </p:nvSpPr>
        <p:spPr>
          <a:xfrm>
            <a:off x="15690850" y="4282116"/>
            <a:ext cx="1511300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10.23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1047750" y="4678991"/>
            <a:ext cx="16192501" cy="497417"/>
          </a:xfrm>
          <a:prstGeom prst="rect">
            <a:avLst/>
          </a:prstGeom>
          <a:solidFill>
            <a:srgbClr val="F1F5F9">
              <a:alpha val="75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1047750" y="5165825"/>
            <a:ext cx="1428750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Text 50"/>
          <p:cNvSpPr/>
          <p:nvPr/>
        </p:nvSpPr>
        <p:spPr>
          <a:xfrm>
            <a:off x="1143000" y="4774241"/>
            <a:ext cx="131445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base_4b</a:t>
            </a:r>
            <a:endParaRPr lang="en-US" sz="1800" dirty="0"/>
          </a:p>
        </p:txBody>
      </p:sp>
      <p:sp>
        <p:nvSpPr>
          <p:cNvPr id="54" name="Shape 51"/>
          <p:cNvSpPr/>
          <p:nvPr/>
        </p:nvSpPr>
        <p:spPr>
          <a:xfrm>
            <a:off x="2476500" y="5165825"/>
            <a:ext cx="1884660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5" name="Text 52"/>
          <p:cNvSpPr/>
          <p:nvPr/>
        </p:nvSpPr>
        <p:spPr>
          <a:xfrm>
            <a:off x="2514600" y="4774241"/>
            <a:ext cx="180846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16.60%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4361160" y="5165825"/>
            <a:ext cx="1772874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7" name="Text 54"/>
          <p:cNvSpPr/>
          <p:nvPr/>
        </p:nvSpPr>
        <p:spPr>
          <a:xfrm>
            <a:off x="4399260" y="4774241"/>
            <a:ext cx="169667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19.30%</a:t>
            </a:r>
            <a:endParaRPr lang="en-US" sz="1800" dirty="0"/>
          </a:p>
        </p:txBody>
      </p:sp>
      <p:sp>
        <p:nvSpPr>
          <p:cNvPr id="58" name="Shape 55"/>
          <p:cNvSpPr/>
          <p:nvPr/>
        </p:nvSpPr>
        <p:spPr>
          <a:xfrm>
            <a:off x="6134034" y="5165825"/>
            <a:ext cx="1642236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9" name="Text 56"/>
          <p:cNvSpPr/>
          <p:nvPr/>
        </p:nvSpPr>
        <p:spPr>
          <a:xfrm>
            <a:off x="6172134" y="4774241"/>
            <a:ext cx="156603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60" name="Shape 57"/>
          <p:cNvSpPr/>
          <p:nvPr/>
        </p:nvSpPr>
        <p:spPr>
          <a:xfrm>
            <a:off x="7776270" y="5165825"/>
            <a:ext cx="1530449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1" name="Text 58"/>
          <p:cNvSpPr/>
          <p:nvPr/>
        </p:nvSpPr>
        <p:spPr>
          <a:xfrm>
            <a:off x="7814370" y="4774241"/>
            <a:ext cx="145424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1.90%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9306719" y="5165825"/>
            <a:ext cx="1866139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3" name="Text 60"/>
          <p:cNvSpPr/>
          <p:nvPr/>
        </p:nvSpPr>
        <p:spPr>
          <a:xfrm>
            <a:off x="9344819" y="4774241"/>
            <a:ext cx="1789939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64" name="Shape 61"/>
          <p:cNvSpPr/>
          <p:nvPr/>
        </p:nvSpPr>
        <p:spPr>
          <a:xfrm>
            <a:off x="11172859" y="5165825"/>
            <a:ext cx="1754353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5" name="Text 62"/>
          <p:cNvSpPr/>
          <p:nvPr/>
        </p:nvSpPr>
        <p:spPr>
          <a:xfrm>
            <a:off x="11210959" y="4774241"/>
            <a:ext cx="1678153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3.90%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2927212" y="4678991"/>
            <a:ext cx="1362770" cy="49741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7" name="Shape 64"/>
          <p:cNvSpPr/>
          <p:nvPr/>
        </p:nvSpPr>
        <p:spPr>
          <a:xfrm>
            <a:off x="12927212" y="5165825"/>
            <a:ext cx="1362770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8" name="Text 65"/>
          <p:cNvSpPr/>
          <p:nvPr/>
        </p:nvSpPr>
        <p:spPr>
          <a:xfrm>
            <a:off x="12965312" y="4774241"/>
            <a:ext cx="128657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50.00%</a:t>
            </a:r>
            <a:endParaRPr lang="en-US" sz="1800" dirty="0"/>
          </a:p>
        </p:txBody>
      </p:sp>
      <p:sp>
        <p:nvSpPr>
          <p:cNvPr id="69" name="Shape 66"/>
          <p:cNvSpPr/>
          <p:nvPr/>
        </p:nvSpPr>
        <p:spPr>
          <a:xfrm>
            <a:off x="14289981" y="4678991"/>
            <a:ext cx="1362770" cy="497417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70" name="Shape 67"/>
          <p:cNvSpPr/>
          <p:nvPr/>
        </p:nvSpPr>
        <p:spPr>
          <a:xfrm>
            <a:off x="14289981" y="5165825"/>
            <a:ext cx="1362770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1" name="Text 68"/>
          <p:cNvSpPr/>
          <p:nvPr/>
        </p:nvSpPr>
        <p:spPr>
          <a:xfrm>
            <a:off x="14328081" y="4774241"/>
            <a:ext cx="128657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52.29%</a:t>
            </a:r>
            <a:endParaRPr lang="en-US" sz="1800" dirty="0"/>
          </a:p>
        </p:txBody>
      </p:sp>
      <p:sp>
        <p:nvSpPr>
          <p:cNvPr id="72" name="Shape 69"/>
          <p:cNvSpPr/>
          <p:nvPr/>
        </p:nvSpPr>
        <p:spPr>
          <a:xfrm>
            <a:off x="15652750" y="5165825"/>
            <a:ext cx="1587500" cy="10583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3" name="Text 70"/>
          <p:cNvSpPr/>
          <p:nvPr/>
        </p:nvSpPr>
        <p:spPr>
          <a:xfrm>
            <a:off x="15690850" y="4774241"/>
            <a:ext cx="151130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9.78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1047750" y="5176408"/>
            <a:ext cx="16192501" cy="50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Shape 72"/>
          <p:cNvSpPr/>
          <p:nvPr/>
        </p:nvSpPr>
        <p:spPr>
          <a:xfrm>
            <a:off x="1047750" y="5673825"/>
            <a:ext cx="1428750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6" name="Text 73"/>
          <p:cNvSpPr/>
          <p:nvPr/>
        </p:nvSpPr>
        <p:spPr>
          <a:xfrm>
            <a:off x="1143000" y="5271658"/>
            <a:ext cx="131445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ft_2b ✦</a:t>
            </a:r>
            <a:endParaRPr lang="en-US" sz="1800" dirty="0"/>
          </a:p>
        </p:txBody>
      </p:sp>
      <p:sp>
        <p:nvSpPr>
          <p:cNvPr id="77" name="Shape 74"/>
          <p:cNvSpPr/>
          <p:nvPr/>
        </p:nvSpPr>
        <p:spPr>
          <a:xfrm>
            <a:off x="2476500" y="5673825"/>
            <a:ext cx="1884660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78" name="Text 75"/>
          <p:cNvSpPr/>
          <p:nvPr/>
        </p:nvSpPr>
        <p:spPr>
          <a:xfrm>
            <a:off x="2514600" y="5271658"/>
            <a:ext cx="180846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22.40%</a:t>
            </a:r>
            <a:endParaRPr lang="en-US" sz="1800" dirty="0"/>
          </a:p>
        </p:txBody>
      </p:sp>
      <p:sp>
        <p:nvSpPr>
          <p:cNvPr id="79" name="Shape 76"/>
          <p:cNvSpPr/>
          <p:nvPr/>
        </p:nvSpPr>
        <p:spPr>
          <a:xfrm>
            <a:off x="4361160" y="5673825"/>
            <a:ext cx="1772874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0" name="Text 77"/>
          <p:cNvSpPr/>
          <p:nvPr/>
        </p:nvSpPr>
        <p:spPr>
          <a:xfrm>
            <a:off x="4399260" y="5271658"/>
            <a:ext cx="1696674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33.73%</a:t>
            </a:r>
            <a:endParaRPr lang="en-US" sz="1800" dirty="0"/>
          </a:p>
        </p:txBody>
      </p:sp>
      <p:sp>
        <p:nvSpPr>
          <p:cNvPr id="81" name="Shape 78"/>
          <p:cNvSpPr/>
          <p:nvPr/>
        </p:nvSpPr>
        <p:spPr>
          <a:xfrm>
            <a:off x="6134034" y="5176408"/>
            <a:ext cx="1642236" cy="5080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2" name="Shape 79"/>
          <p:cNvSpPr/>
          <p:nvPr/>
        </p:nvSpPr>
        <p:spPr>
          <a:xfrm>
            <a:off x="6134034" y="5673825"/>
            <a:ext cx="1642236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3" name="Text 80"/>
          <p:cNvSpPr/>
          <p:nvPr/>
        </p:nvSpPr>
        <p:spPr>
          <a:xfrm>
            <a:off x="6172134" y="5271658"/>
            <a:ext cx="1566036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7.78%</a:t>
            </a:r>
            <a:endParaRPr lang="en-US" sz="1800" dirty="0"/>
          </a:p>
        </p:txBody>
      </p:sp>
      <p:sp>
        <p:nvSpPr>
          <p:cNvPr id="84" name="Shape 81"/>
          <p:cNvSpPr/>
          <p:nvPr/>
        </p:nvSpPr>
        <p:spPr>
          <a:xfrm>
            <a:off x="7776270" y="5673825"/>
            <a:ext cx="1530449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5" name="Text 82"/>
          <p:cNvSpPr/>
          <p:nvPr/>
        </p:nvSpPr>
        <p:spPr>
          <a:xfrm>
            <a:off x="7814370" y="5271658"/>
            <a:ext cx="145424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10.03%</a:t>
            </a:r>
            <a:endParaRPr lang="en-US" sz="1800" dirty="0"/>
          </a:p>
        </p:txBody>
      </p:sp>
      <p:sp>
        <p:nvSpPr>
          <p:cNvPr id="86" name="Shape 83"/>
          <p:cNvSpPr/>
          <p:nvPr/>
        </p:nvSpPr>
        <p:spPr>
          <a:xfrm>
            <a:off x="9306719" y="5673825"/>
            <a:ext cx="1866139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7" name="Text 84"/>
          <p:cNvSpPr/>
          <p:nvPr/>
        </p:nvSpPr>
        <p:spPr>
          <a:xfrm>
            <a:off x="9344819" y="5271658"/>
            <a:ext cx="1789939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59.28%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11172859" y="5673825"/>
            <a:ext cx="1754353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89" name="Text 86"/>
          <p:cNvSpPr/>
          <p:nvPr/>
        </p:nvSpPr>
        <p:spPr>
          <a:xfrm>
            <a:off x="11210959" y="5271658"/>
            <a:ext cx="1678153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59.81%</a:t>
            </a:r>
            <a:endParaRPr lang="en-US" sz="1800" dirty="0"/>
          </a:p>
        </p:txBody>
      </p:sp>
      <p:sp>
        <p:nvSpPr>
          <p:cNvPr id="90" name="Shape 87"/>
          <p:cNvSpPr/>
          <p:nvPr/>
        </p:nvSpPr>
        <p:spPr>
          <a:xfrm>
            <a:off x="12927212" y="5673825"/>
            <a:ext cx="1362770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91" name="Text 88"/>
          <p:cNvSpPr/>
          <p:nvPr/>
        </p:nvSpPr>
        <p:spPr>
          <a:xfrm>
            <a:off x="12965312" y="5271658"/>
            <a:ext cx="128657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1800" dirty="0"/>
          </a:p>
        </p:txBody>
      </p:sp>
      <p:sp>
        <p:nvSpPr>
          <p:cNvPr id="92" name="Shape 89"/>
          <p:cNvSpPr/>
          <p:nvPr/>
        </p:nvSpPr>
        <p:spPr>
          <a:xfrm>
            <a:off x="14289981" y="5673825"/>
            <a:ext cx="1362770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93" name="Text 90"/>
          <p:cNvSpPr/>
          <p:nvPr/>
        </p:nvSpPr>
        <p:spPr>
          <a:xfrm>
            <a:off x="14328081" y="5271658"/>
            <a:ext cx="128657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31.35%</a:t>
            </a:r>
            <a:endParaRPr lang="en-US" sz="1800" dirty="0"/>
          </a:p>
        </p:txBody>
      </p:sp>
      <p:sp>
        <p:nvSpPr>
          <p:cNvPr id="94" name="Shape 91"/>
          <p:cNvSpPr/>
          <p:nvPr/>
        </p:nvSpPr>
        <p:spPr>
          <a:xfrm>
            <a:off x="15652750" y="5673825"/>
            <a:ext cx="1587500" cy="10583"/>
          </a:xfrm>
          <a:prstGeom prst="rect">
            <a:avLst/>
          </a:prstGeom>
          <a:solidFill>
            <a:srgbClr val="BFDBFE"/>
          </a:solidFill>
          <a:ln/>
        </p:spPr>
      </p:sp>
      <p:sp>
        <p:nvSpPr>
          <p:cNvPr id="95" name="Text 92"/>
          <p:cNvSpPr/>
          <p:nvPr/>
        </p:nvSpPr>
        <p:spPr>
          <a:xfrm>
            <a:off x="15690850" y="5271658"/>
            <a:ext cx="1511300" cy="345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1.99</a:t>
            </a:r>
            <a:endParaRPr lang="en-US" sz="1800" dirty="0"/>
          </a:p>
        </p:txBody>
      </p:sp>
      <p:sp>
        <p:nvSpPr>
          <p:cNvPr id="96" name="Shape 93"/>
          <p:cNvSpPr/>
          <p:nvPr/>
        </p:nvSpPr>
        <p:spPr>
          <a:xfrm>
            <a:off x="1047750" y="5684408"/>
            <a:ext cx="16192501" cy="5027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7" name="Text 94"/>
          <p:cNvSpPr/>
          <p:nvPr/>
        </p:nvSpPr>
        <p:spPr>
          <a:xfrm>
            <a:off x="1143000" y="5779658"/>
            <a:ext cx="1314450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ft_4b ✦</a:t>
            </a:r>
            <a:endParaRPr lang="en-US" sz="1800" dirty="0"/>
          </a:p>
        </p:txBody>
      </p:sp>
      <p:sp>
        <p:nvSpPr>
          <p:cNvPr id="98" name="Shape 95"/>
          <p:cNvSpPr/>
          <p:nvPr/>
        </p:nvSpPr>
        <p:spPr>
          <a:xfrm>
            <a:off x="2476500" y="5684408"/>
            <a:ext cx="1884660" cy="5027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9" name="Text 96"/>
          <p:cNvSpPr/>
          <p:nvPr/>
        </p:nvSpPr>
        <p:spPr>
          <a:xfrm>
            <a:off x="2514600" y="5779658"/>
            <a:ext cx="1808460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31.60%</a:t>
            </a:r>
            <a:endParaRPr lang="en-US" sz="1800" dirty="0"/>
          </a:p>
        </p:txBody>
      </p:sp>
      <p:sp>
        <p:nvSpPr>
          <p:cNvPr id="100" name="Shape 97"/>
          <p:cNvSpPr/>
          <p:nvPr/>
        </p:nvSpPr>
        <p:spPr>
          <a:xfrm>
            <a:off x="4361160" y="5684408"/>
            <a:ext cx="1772874" cy="5027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1" name="Text 98"/>
          <p:cNvSpPr/>
          <p:nvPr/>
        </p:nvSpPr>
        <p:spPr>
          <a:xfrm>
            <a:off x="4399260" y="5779658"/>
            <a:ext cx="1696674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37.07%</a:t>
            </a:r>
            <a:endParaRPr lang="en-US" sz="1800" dirty="0"/>
          </a:p>
        </p:txBody>
      </p:sp>
      <p:sp>
        <p:nvSpPr>
          <p:cNvPr id="102" name="Text 99"/>
          <p:cNvSpPr/>
          <p:nvPr/>
        </p:nvSpPr>
        <p:spPr>
          <a:xfrm>
            <a:off x="6172134" y="5779658"/>
            <a:ext cx="1566036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5.99%</a:t>
            </a:r>
            <a:endParaRPr lang="en-US" sz="1800" dirty="0"/>
          </a:p>
        </p:txBody>
      </p:sp>
      <p:sp>
        <p:nvSpPr>
          <p:cNvPr id="103" name="Shape 100"/>
          <p:cNvSpPr/>
          <p:nvPr/>
        </p:nvSpPr>
        <p:spPr>
          <a:xfrm>
            <a:off x="7776270" y="5684408"/>
            <a:ext cx="1530449" cy="5027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4" name="Text 101"/>
          <p:cNvSpPr/>
          <p:nvPr/>
        </p:nvSpPr>
        <p:spPr>
          <a:xfrm>
            <a:off x="7814370" y="5779658"/>
            <a:ext cx="1454249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10.18%</a:t>
            </a:r>
            <a:endParaRPr lang="en-US" sz="1800" dirty="0"/>
          </a:p>
        </p:txBody>
      </p:sp>
      <p:sp>
        <p:nvSpPr>
          <p:cNvPr id="105" name="Shape 102"/>
          <p:cNvSpPr/>
          <p:nvPr/>
        </p:nvSpPr>
        <p:spPr>
          <a:xfrm>
            <a:off x="9306719" y="5684408"/>
            <a:ext cx="1866139" cy="5027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6" name="Text 103"/>
          <p:cNvSpPr/>
          <p:nvPr/>
        </p:nvSpPr>
        <p:spPr>
          <a:xfrm>
            <a:off x="9344819" y="5779658"/>
            <a:ext cx="1789939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72.46%</a:t>
            </a:r>
            <a:endParaRPr lang="en-US" sz="1800" dirty="0"/>
          </a:p>
        </p:txBody>
      </p:sp>
      <p:sp>
        <p:nvSpPr>
          <p:cNvPr id="107" name="Shape 104"/>
          <p:cNvSpPr/>
          <p:nvPr/>
        </p:nvSpPr>
        <p:spPr>
          <a:xfrm>
            <a:off x="11172859" y="5684408"/>
            <a:ext cx="1754353" cy="5027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8" name="Text 105"/>
          <p:cNvSpPr/>
          <p:nvPr/>
        </p:nvSpPr>
        <p:spPr>
          <a:xfrm>
            <a:off x="11210959" y="5779658"/>
            <a:ext cx="1678153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72.46%</a:t>
            </a:r>
            <a:endParaRPr lang="en-US" sz="1800" dirty="0"/>
          </a:p>
        </p:txBody>
      </p:sp>
      <p:sp>
        <p:nvSpPr>
          <p:cNvPr id="109" name="Shape 106"/>
          <p:cNvSpPr/>
          <p:nvPr/>
        </p:nvSpPr>
        <p:spPr>
          <a:xfrm>
            <a:off x="12927212" y="5684408"/>
            <a:ext cx="1362770" cy="5027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10" name="Text 107"/>
          <p:cNvSpPr/>
          <p:nvPr/>
        </p:nvSpPr>
        <p:spPr>
          <a:xfrm>
            <a:off x="12965312" y="5779658"/>
            <a:ext cx="1286570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16.27%</a:t>
            </a:r>
            <a:endParaRPr lang="en-US" sz="1800" dirty="0"/>
          </a:p>
        </p:txBody>
      </p:sp>
      <p:sp>
        <p:nvSpPr>
          <p:cNvPr id="111" name="Text 108"/>
          <p:cNvSpPr/>
          <p:nvPr/>
        </p:nvSpPr>
        <p:spPr>
          <a:xfrm>
            <a:off x="14328081" y="5779658"/>
            <a:ext cx="1286570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28.51%</a:t>
            </a:r>
            <a:endParaRPr lang="en-US" sz="1800" dirty="0"/>
          </a:p>
        </p:txBody>
      </p:sp>
      <p:sp>
        <p:nvSpPr>
          <p:cNvPr id="112" name="Text 109"/>
          <p:cNvSpPr/>
          <p:nvPr/>
        </p:nvSpPr>
        <p:spPr>
          <a:xfrm>
            <a:off x="15690850" y="5779658"/>
            <a:ext cx="1511300" cy="350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1.69</a:t>
            </a:r>
            <a:endParaRPr lang="en-US" sz="1800" dirty="0"/>
          </a:p>
        </p:txBody>
      </p:sp>
      <p:sp>
        <p:nvSpPr>
          <p:cNvPr id="113" name="Shape 110"/>
          <p:cNvSpPr/>
          <p:nvPr/>
        </p:nvSpPr>
        <p:spPr>
          <a:xfrm>
            <a:off x="1047750" y="6377616"/>
            <a:ext cx="5295966" cy="1588988"/>
          </a:xfrm>
          <a:prstGeom prst="roundRect">
            <a:avLst>
              <a:gd name="adj" fmla="val 2398"/>
            </a:avLst>
          </a:prstGeom>
          <a:solidFill>
            <a:srgbClr val="EFF6FF"/>
          </a:solidFill>
          <a:ln/>
        </p:spPr>
      </p:sp>
      <p:sp>
        <p:nvSpPr>
          <p:cNvPr id="114" name="Shape 111"/>
          <p:cNvSpPr/>
          <p:nvPr/>
        </p:nvSpPr>
        <p:spPr>
          <a:xfrm>
            <a:off x="1047750" y="6377616"/>
            <a:ext cx="31750" cy="158898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5" name="Text 112"/>
          <p:cNvSpPr/>
          <p:nvPr/>
        </p:nvSpPr>
        <p:spPr>
          <a:xfrm>
            <a:off x="1231801" y="6501309"/>
            <a:ext cx="54555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ft_4b: Overall EM tốt nhất</a:t>
            </a:r>
            <a:endParaRPr lang="en-US" sz="1800" dirty="0"/>
          </a:p>
        </p:txBody>
      </p:sp>
      <p:sp>
        <p:nvSpPr>
          <p:cNvPr id="116" name="Text 113"/>
          <p:cNvSpPr/>
          <p:nvPr/>
        </p:nvSpPr>
        <p:spPr>
          <a:xfrm>
            <a:off x="1231801" y="6814510"/>
            <a:ext cx="5108403" cy="7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31.60% EM tổng, Closed 72.46% — vượt trội rõ rệt so với base (16.60%).</a:t>
            </a:r>
            <a:endParaRPr lang="en-US" sz="1800" dirty="0"/>
          </a:p>
        </p:txBody>
      </p:sp>
      <p:sp>
        <p:nvSpPr>
          <p:cNvPr id="117" name="Shape 114"/>
          <p:cNvSpPr/>
          <p:nvPr/>
        </p:nvSpPr>
        <p:spPr>
          <a:xfrm>
            <a:off x="6496017" y="6377616"/>
            <a:ext cx="5295966" cy="1588988"/>
          </a:xfrm>
          <a:prstGeom prst="roundRect">
            <a:avLst>
              <a:gd name="adj" fmla="val 2398"/>
            </a:avLst>
          </a:prstGeom>
          <a:solidFill>
            <a:srgbClr val="EFF6FF"/>
          </a:solidFill>
          <a:ln/>
        </p:spPr>
      </p:sp>
      <p:sp>
        <p:nvSpPr>
          <p:cNvPr id="118" name="Shape 115"/>
          <p:cNvSpPr/>
          <p:nvPr/>
        </p:nvSpPr>
        <p:spPr>
          <a:xfrm>
            <a:off x="6496017" y="6377616"/>
            <a:ext cx="31750" cy="1588988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119" name="Text 116"/>
          <p:cNvSpPr/>
          <p:nvPr/>
        </p:nvSpPr>
        <p:spPr>
          <a:xfrm>
            <a:off x="6680068" y="6501309"/>
            <a:ext cx="54555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models: chỉ giỏi trắc nghiệm MC</a:t>
            </a:r>
            <a:endParaRPr lang="en-US" sz="1800" dirty="0"/>
          </a:p>
        </p:txBody>
      </p:sp>
      <p:sp>
        <p:nvSpPr>
          <p:cNvPr id="120" name="Text 117"/>
          <p:cNvSpPr/>
          <p:nvPr/>
        </p:nvSpPr>
        <p:spPr>
          <a:xfrm>
            <a:off x="6680068" y="6814510"/>
            <a:ext cx="5108403" cy="7237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+ Closed = 0% nhưng MC ~47–50% — mô hình base không biết trả lời ngắn.</a:t>
            </a:r>
            <a:endParaRPr lang="en-US" sz="1800" dirty="0"/>
          </a:p>
        </p:txBody>
      </p:sp>
      <p:sp>
        <p:nvSpPr>
          <p:cNvPr id="121" name="Shape 118"/>
          <p:cNvSpPr/>
          <p:nvPr/>
        </p:nvSpPr>
        <p:spPr>
          <a:xfrm>
            <a:off x="11944285" y="6377616"/>
            <a:ext cx="5295966" cy="1588988"/>
          </a:xfrm>
          <a:prstGeom prst="roundRect">
            <a:avLst>
              <a:gd name="adj" fmla="val 2398"/>
            </a:avLst>
          </a:prstGeom>
          <a:solidFill>
            <a:srgbClr val="FEF3C7"/>
          </a:solidFill>
          <a:ln/>
        </p:spPr>
      </p:sp>
      <p:sp>
        <p:nvSpPr>
          <p:cNvPr id="122" name="Shape 119"/>
          <p:cNvSpPr/>
          <p:nvPr/>
        </p:nvSpPr>
        <p:spPr>
          <a:xfrm>
            <a:off x="11944285" y="6377616"/>
            <a:ext cx="31750" cy="15889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3" name="Text 120"/>
          <p:cNvSpPr/>
          <p:nvPr/>
        </p:nvSpPr>
        <p:spPr>
          <a:xfrm>
            <a:off x="12128335" y="6501309"/>
            <a:ext cx="545557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Catastrophic forgetting (MC)</a:t>
            </a:r>
            <a:endParaRPr lang="en-US" sz="1800" dirty="0"/>
          </a:p>
        </p:txBody>
      </p:sp>
      <p:sp>
        <p:nvSpPr>
          <p:cNvPr id="124" name="Text 121"/>
          <p:cNvSpPr/>
          <p:nvPr/>
        </p:nvSpPr>
        <p:spPr>
          <a:xfrm>
            <a:off x="12128335" y="6814510"/>
            <a:ext cx="5108403" cy="1066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ft_2b: MC → 0%; ft_4b: MC giảm từ 50% → 16.27% sau fine-tune do train set không có mẫu MC.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466659"/>
            <a:ext cx="1781175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KẾT QUẢ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837076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Minh Họa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1620242"/>
            <a:ext cx="533301" cy="28443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1953452"/>
            <a:ext cx="6800784" cy="5048250"/>
          </a:xfrm>
          <a:prstGeom prst="roundRect">
            <a:avLst>
              <a:gd name="adj" fmla="val 1509"/>
            </a:avLst>
          </a:prstGeom>
          <a:solidFill>
            <a:srgbClr val="0A0A0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17358" r="-17358" t="0" b="0"/>
          <a:stretch/>
        </p:blipFill>
        <p:spPr>
          <a:xfrm>
            <a:off x="1047750" y="1953452"/>
            <a:ext cx="6800784" cy="5048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7711" y="7115969"/>
            <a:ext cx="748086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Chest X-ray · VQA-RAD Test Sample · MedPix®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8381835" y="1953452"/>
            <a:ext cx="8858416" cy="2120305"/>
          </a:xfrm>
          <a:prstGeom prst="roundRect">
            <a:avLst>
              <a:gd name="adj" fmla="val 4492"/>
            </a:avLst>
          </a:prstGeom>
          <a:solidFill>
            <a:srgbClr val="F7FAFC"/>
          </a:solidFill>
          <a:ln/>
        </p:spPr>
      </p:sp>
      <p:sp>
        <p:nvSpPr>
          <p:cNvPr id="12" name="Shape 8"/>
          <p:cNvSpPr/>
          <p:nvPr/>
        </p:nvSpPr>
        <p:spPr>
          <a:xfrm>
            <a:off x="8381835" y="1953452"/>
            <a:ext cx="8858416" cy="1079169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3" name="Shape 9"/>
          <p:cNvSpPr/>
          <p:nvPr/>
        </p:nvSpPr>
        <p:spPr>
          <a:xfrm>
            <a:off x="8381835" y="1953452"/>
            <a:ext cx="31750" cy="1079169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0"/>
          <p:cNvSpPr/>
          <p:nvPr/>
        </p:nvSpPr>
        <p:spPr>
          <a:xfrm>
            <a:off x="8623102" y="2105753"/>
            <a:ext cx="924839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1 · YES/NO (CLOSED)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8623102" y="2478154"/>
            <a:ext cx="9248395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there a pacemaker visible in this image?"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8591352" y="3211380"/>
            <a:ext cx="789914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591352" y="3545748"/>
            <a:ext cx="78991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"Yes"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9609833" y="3362689"/>
            <a:ext cx="9525" cy="381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5"/>
          <p:cNvSpPr/>
          <p:nvPr/>
        </p:nvSpPr>
        <p:spPr>
          <a:xfrm>
            <a:off x="9924026" y="3184922"/>
            <a:ext cx="149559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9924026" y="3519289"/>
            <a:ext cx="1495590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"Yes" ✓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8381835" y="4283274"/>
            <a:ext cx="8858416" cy="2139322"/>
          </a:xfrm>
          <a:prstGeom prst="roundRect">
            <a:avLst>
              <a:gd name="adj" fmla="val 4452"/>
            </a:avLst>
          </a:prstGeom>
          <a:solidFill>
            <a:srgbClr val="F7FAFC"/>
          </a:solidFill>
          <a:ln/>
        </p:spPr>
      </p:sp>
      <p:sp>
        <p:nvSpPr>
          <p:cNvPr id="22" name="Shape 18"/>
          <p:cNvSpPr/>
          <p:nvPr/>
        </p:nvSpPr>
        <p:spPr>
          <a:xfrm>
            <a:off x="8381835" y="4283274"/>
            <a:ext cx="8858416" cy="1079169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3" name="Shape 19"/>
          <p:cNvSpPr/>
          <p:nvPr/>
        </p:nvSpPr>
        <p:spPr>
          <a:xfrm>
            <a:off x="8381835" y="4283274"/>
            <a:ext cx="31750" cy="1079169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24" name="Text 20"/>
          <p:cNvSpPr/>
          <p:nvPr/>
        </p:nvSpPr>
        <p:spPr>
          <a:xfrm>
            <a:off x="8623102" y="4435574"/>
            <a:ext cx="9248395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5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2 · OPEN-ENDED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8623102" y="4807975"/>
            <a:ext cx="9248395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"Where is the pacemaker located?"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8591352" y="5514744"/>
            <a:ext cx="9283320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Answer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8591352" y="5868128"/>
            <a:ext cx="9283320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0B1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"Left chest region"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8381835" y="6670146"/>
            <a:ext cx="974425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Kết quả sơ bộ — đánh giá định lượng đầy đủ đã được báo cáo ở slide trước.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085139" y="114267"/>
            <a:ext cx="1012362" cy="533301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-2559" r="-2559" t="0" b="0"/>
          <a:stretch/>
        </p:blipFill>
        <p:spPr>
          <a:xfrm>
            <a:off x="17085139" y="114267"/>
            <a:ext cx="1012362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01" cy="47625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5" name="Text 2"/>
          <p:cNvSpPr/>
          <p:nvPr/>
        </p:nvSpPr>
        <p:spPr>
          <a:xfrm>
            <a:off x="1047750" y="809625"/>
            <a:ext cx="17811751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25" kern="0" dirty="0">
                <a:solidFill>
                  <a:srgbClr val="4A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KẾT LUẬN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47750" y="1334492"/>
            <a:ext cx="17811751" cy="726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&amp; Hướng Phát Triển</a:t>
            </a:r>
            <a:endParaRPr lang="en-US" sz="4650" dirty="0"/>
          </a:p>
        </p:txBody>
      </p:sp>
      <p:sp>
        <p:nvSpPr>
          <p:cNvPr id="7" name="Shape 4"/>
          <p:cNvSpPr/>
          <p:nvPr/>
        </p:nvSpPr>
        <p:spPr>
          <a:xfrm>
            <a:off x="1047750" y="2843610"/>
            <a:ext cx="7791484" cy="1058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47750" y="2403409"/>
            <a:ext cx="8025228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Hiện Tại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1047750" y="3177977"/>
            <a:ext cx="66642" cy="6664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7"/>
          <p:cNvSpPr/>
          <p:nvPr/>
        </p:nvSpPr>
        <p:spPr>
          <a:xfrm>
            <a:off x="1247676" y="3063710"/>
            <a:ext cx="5984217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nhỏ (314 ảnh) — hạn chế khả năng tổng quát hóa.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47750" y="3764525"/>
            <a:ext cx="66642" cy="6664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2" name="Text 9"/>
          <p:cNvSpPr/>
          <p:nvPr/>
        </p:nvSpPr>
        <p:spPr>
          <a:xfrm>
            <a:off x="1247676" y="3650258"/>
            <a:ext cx="7211583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 cầu độ chính xác lâm sàng cao — sai sót có hệ quả nghiêm trọng.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47750" y="4351073"/>
            <a:ext cx="66642" cy="6664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4" name="Text 11"/>
          <p:cNvSpPr/>
          <p:nvPr/>
        </p:nvSpPr>
        <p:spPr>
          <a:xfrm>
            <a:off x="1247676" y="4236806"/>
            <a:ext cx="5933631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Rủi ro hallucination — câu trả lời hợp lý nhưng sai về y tế.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47750" y="4937621"/>
            <a:ext cx="66642" cy="66642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6" name="Text 13"/>
          <p:cNvSpPr/>
          <p:nvPr/>
        </p:nvSpPr>
        <p:spPr>
          <a:xfrm>
            <a:off x="1247676" y="4823354"/>
            <a:ext cx="7549339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"Lệch tủ" trắc nghiệm sau fine-tune — mô hình quên định dạng A/B/C/D.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448767" y="2843610"/>
            <a:ext cx="7791484" cy="1058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448767" y="2403409"/>
            <a:ext cx="8025228" cy="344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Phát Triển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9448767" y="3177977"/>
            <a:ext cx="66642" cy="6664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0" name="Text 17"/>
          <p:cNvSpPr/>
          <p:nvPr/>
        </p:nvSpPr>
        <p:spPr>
          <a:xfrm>
            <a:off x="9648693" y="3063710"/>
            <a:ext cx="5268169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dữ liệu — tích hợp SLAKE, MedVQA-2019.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448767" y="3764525"/>
            <a:ext cx="66642" cy="6664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2" name="Text 19"/>
          <p:cNvSpPr/>
          <p:nvPr/>
        </p:nvSpPr>
        <p:spPr>
          <a:xfrm>
            <a:off x="9648693" y="3650258"/>
            <a:ext cx="5968377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explainability — Grad-CAM, attention visualization.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9448767" y="4351073"/>
            <a:ext cx="66642" cy="6664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4" name="Text 21"/>
          <p:cNvSpPr/>
          <p:nvPr/>
        </p:nvSpPr>
        <p:spPr>
          <a:xfrm>
            <a:off x="9648693" y="4236806"/>
            <a:ext cx="5254031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Khảo sát Flash Attention cho VLM y tế quy mô lớn.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448767" y="4937621"/>
            <a:ext cx="66642" cy="66642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6" name="Text 23"/>
          <p:cNvSpPr/>
          <p:nvPr/>
        </p:nvSpPr>
        <p:spPr>
          <a:xfrm>
            <a:off x="9648693" y="4823354"/>
            <a:ext cx="7750663" cy="4151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8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Thêm mẫu trắc nghiệm vào train set để khắc phục catastrophic forgetting.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47750" y="8974832"/>
            <a:ext cx="16192501" cy="10583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047750" y="9251984"/>
            <a:ext cx="622156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thầy/cô và các bạn đã lắng nghe!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12168519" y="9278442"/>
            <a:ext cx="5578906" cy="334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A65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Hoàng Đình Quý Vũ · GVHD: PGS.TS Lê Anh Cường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2026-06-20T04:19:31Z</dcterms:created>
  <dcterms:modified xsi:type="dcterms:W3CDTF">2026-06-20T04:19:31Z</dcterms:modified>
</cp:coreProperties>
</file>